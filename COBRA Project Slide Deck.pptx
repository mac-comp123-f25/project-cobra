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8229600" cx="14630400"/>
  <p:notesSz cx="8229600" cy="14630400"/>
  <p:embeddedFontLst>
    <p:embeddedFont>
      <p:font typeface="Fraunces"/>
      <p:regular r:id="rId16"/>
      <p:bold r:id="rId17"/>
      <p:italic r:id="rId18"/>
      <p:boldItalic r:id="rId19"/>
    </p:embeddedFont>
    <p:embeddedFont>
      <p:font typeface="Roboto"/>
      <p:regular r:id="rId20"/>
      <p:bold r:id="rId21"/>
      <p:italic r:id="rId22"/>
      <p:boldItalic r:id="rId23"/>
    </p:embeddedFont>
    <p:embeddedFont>
      <p:font typeface="Nobile"/>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Nobile-regular.fntdata"/><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Nobile-italic.fntdata"/><Relationship Id="rId25" Type="http://schemas.openxmlformats.org/officeDocument/2006/relationships/font" Target="fonts/Nobile-bold.fntdata"/><Relationship Id="rId27" Type="http://schemas.openxmlformats.org/officeDocument/2006/relationships/font" Target="fonts/Nobile-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Fraunces-bold.fntdata"/><Relationship Id="rId16" Type="http://schemas.openxmlformats.org/officeDocument/2006/relationships/font" Target="fonts/Fraunces-regular.fntdata"/><Relationship Id="rId19" Type="http://schemas.openxmlformats.org/officeDocument/2006/relationships/font" Target="fonts/Fraunces-boldItalic.fntdata"/><Relationship Id="rId18" Type="http://schemas.openxmlformats.org/officeDocument/2006/relationships/font" Target="fonts/Fraunce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e8d5e13d9_2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3ae8d5e13d9_2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3ae8d5e13d9_2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"Working on the Snake game gave us hands-on experience in both technical skills and teamwork. we started by  practiced </a:t>
            </a:r>
            <a:r>
              <a:rPr b="1" lang="en-US" sz="1100">
                <a:latin typeface="Arial"/>
                <a:ea typeface="Arial"/>
                <a:cs typeface="Arial"/>
                <a:sym typeface="Arial"/>
              </a:rPr>
              <a:t>problem decomposition</a:t>
            </a:r>
            <a:r>
              <a:rPr lang="en-US" sz="1100">
                <a:latin typeface="Arial"/>
                <a:ea typeface="Arial"/>
                <a:cs typeface="Arial"/>
                <a:sym typeface="Arial"/>
              </a:rPr>
              <a:t>, starting with a </a:t>
            </a:r>
            <a:r>
              <a:rPr lang="en-US" sz="1100">
                <a:latin typeface="Arial"/>
                <a:ea typeface="Arial"/>
                <a:cs typeface="Arial"/>
                <a:sym typeface="Arial"/>
              </a:rPr>
              <a:t>prototype</a:t>
            </a:r>
            <a:r>
              <a:rPr lang="en-US" sz="1100">
                <a:latin typeface="Arial"/>
                <a:ea typeface="Arial"/>
                <a:cs typeface="Arial"/>
                <a:sym typeface="Arial"/>
              </a:rPr>
              <a:t> and ending with a fully functioning game, breaking the project into manageable pieces.  Later We applied </a:t>
            </a:r>
            <a:r>
              <a:rPr b="1" lang="en-US" sz="1100">
                <a:latin typeface="Arial"/>
                <a:ea typeface="Arial"/>
                <a:cs typeface="Arial"/>
                <a:sym typeface="Arial"/>
              </a:rPr>
              <a:t>object-oriented design patterns</a:t>
            </a:r>
            <a:r>
              <a:rPr lang="en-US" sz="1100">
                <a:latin typeface="Arial"/>
                <a:ea typeface="Arial"/>
                <a:cs typeface="Arial"/>
                <a:sym typeface="Arial"/>
              </a:rPr>
              <a:t>, structuring the game with classes and methods to keep the code organized and reusable. </a:t>
            </a:r>
            <a:r>
              <a:rPr lang="en-US" sz="1100">
                <a:latin typeface="Arial"/>
                <a:ea typeface="Arial"/>
                <a:cs typeface="Arial"/>
                <a:sym typeface="Arial"/>
              </a:rPr>
              <a:t>Using an </a:t>
            </a:r>
            <a:r>
              <a:rPr b="1" lang="en-US" sz="1100">
                <a:latin typeface="Arial"/>
                <a:ea typeface="Arial"/>
                <a:cs typeface="Arial"/>
                <a:sym typeface="Arial"/>
              </a:rPr>
              <a:t>iterative development approach</a:t>
            </a:r>
            <a:r>
              <a:rPr lang="en-US" sz="1100">
                <a:latin typeface="Arial"/>
                <a:ea typeface="Arial"/>
                <a:cs typeface="Arial"/>
                <a:sym typeface="Arial"/>
              </a:rPr>
              <a:t>, we refined the game step by step. </a:t>
            </a:r>
            <a:r>
              <a:rPr lang="en-US" sz="1100">
                <a:latin typeface="Arial"/>
                <a:ea typeface="Arial"/>
                <a:cs typeface="Arial"/>
                <a:sym typeface="Arial"/>
              </a:rPr>
              <a:t>Building on that, we developed the </a:t>
            </a:r>
            <a:r>
              <a:rPr b="1" lang="en-US" sz="1100">
                <a:latin typeface="Arial"/>
                <a:ea typeface="Arial"/>
                <a:cs typeface="Arial"/>
                <a:sym typeface="Arial"/>
              </a:rPr>
              <a:t>game loop infrastructure and frame management</a:t>
            </a:r>
            <a:r>
              <a:rPr lang="en-US" sz="1100">
                <a:latin typeface="Arial"/>
                <a:ea typeface="Arial"/>
                <a:cs typeface="Arial"/>
                <a:sym typeface="Arial"/>
              </a:rPr>
              <a:t>, which allowed the game to continuously update and render frames, ensuring smooth snake movement, consistent timing, and responsive gameplay </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We also learnt new  </a:t>
            </a:r>
            <a:r>
              <a:rPr b="1" lang="en-US" sz="1100">
                <a:latin typeface="Arial"/>
                <a:ea typeface="Arial"/>
                <a:cs typeface="Arial"/>
                <a:sym typeface="Arial"/>
              </a:rPr>
              <a:t>algorithms like collision detection</a:t>
            </a:r>
            <a:r>
              <a:rPr lang="en-US" sz="1100">
                <a:latin typeface="Arial"/>
                <a:ea typeface="Arial"/>
                <a:cs typeface="Arial"/>
                <a:sym typeface="Arial"/>
              </a:rPr>
              <a:t>, enabling the game to accurately recognize when the snake hits walls or itself. As well as learned new methods such as pygame, to add new features like music.</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Lastly, we really honed our </a:t>
            </a:r>
            <a:r>
              <a:rPr b="1" lang="en-US" sz="1100">
                <a:latin typeface="Arial"/>
                <a:ea typeface="Arial"/>
                <a:cs typeface="Arial"/>
                <a:sym typeface="Arial"/>
              </a:rPr>
              <a:t>debugging skills</a:t>
            </a:r>
            <a:r>
              <a:rPr lang="en-US" sz="1100">
                <a:latin typeface="Arial"/>
                <a:ea typeface="Arial"/>
                <a:cs typeface="Arial"/>
                <a:sym typeface="Arial"/>
              </a:rPr>
              <a:t>, learning to systematically identify, isolate, and fix issues in the code. This involved reading and interpreting error messages, tracing logic step by step, and testing different parts of the game independently. </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as well as </a:t>
            </a:r>
            <a:r>
              <a:rPr lang="en-US" sz="1100">
                <a:latin typeface="Arial"/>
                <a:ea typeface="Arial"/>
                <a:cs typeface="Arial"/>
                <a:sym typeface="Arial"/>
              </a:rPr>
              <a:t>maintaining</a:t>
            </a:r>
            <a:r>
              <a:rPr lang="en-US" sz="1100">
                <a:latin typeface="Arial"/>
                <a:ea typeface="Arial"/>
                <a:cs typeface="Arial"/>
                <a:sym typeface="Arial"/>
              </a:rPr>
              <a:t> </a:t>
            </a:r>
            <a:r>
              <a:rPr b="1" lang="en-US" sz="1100">
                <a:latin typeface="Arial"/>
                <a:ea typeface="Arial"/>
                <a:cs typeface="Arial"/>
                <a:sym typeface="Arial"/>
              </a:rPr>
              <a:t>documentation and code readability throughout the entire code </a:t>
            </a:r>
            <a:r>
              <a:rPr lang="en-US" sz="1100">
                <a:latin typeface="Arial"/>
                <a:ea typeface="Arial"/>
                <a:cs typeface="Arial"/>
                <a:sym typeface="Arial"/>
              </a:rPr>
              <a:t>, for easy team collaboration. Talking about team collaboration, we practiced strong </a:t>
            </a:r>
            <a:r>
              <a:rPr b="1" lang="en-US" sz="1100">
                <a:latin typeface="Arial"/>
                <a:ea typeface="Arial"/>
                <a:cs typeface="Arial"/>
                <a:sym typeface="Arial"/>
              </a:rPr>
              <a:t>team coordination and teamworking skills by </a:t>
            </a:r>
            <a:r>
              <a:rPr lang="en-US" sz="1100">
                <a:latin typeface="Arial"/>
                <a:ea typeface="Arial"/>
                <a:cs typeface="Arial"/>
                <a:sym typeface="Arial"/>
              </a:rPr>
              <a:t>dividing tasks, communicated effectively, and helping one another. Overall, this project deepened our coding skills while highlighting the importance of collaboration and structured problem-solving."</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23" name="Google Shape;22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10"/>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11"/>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1"/>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0" name="Shape 40"/>
        <p:cNvGrpSpPr/>
        <p:nvPr/>
      </p:nvGrpSpPr>
      <p:grpSpPr>
        <a:xfrm>
          <a:off x="0" y="0"/>
          <a:ext cx="0" cy="0"/>
          <a:chOff x="0" y="0"/>
          <a:chExt cx="0" cy="0"/>
        </a:xfrm>
      </p:grpSpPr>
      <p:sp>
        <p:nvSpPr>
          <p:cNvPr id="41" name="Google Shape;41;p12"/>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2"/>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3" name="Shape 43"/>
        <p:cNvGrpSpPr/>
        <p:nvPr/>
      </p:nvGrpSpPr>
      <p:grpSpPr>
        <a:xfrm>
          <a:off x="0" y="0"/>
          <a:ext cx="0" cy="0"/>
          <a:chOff x="0" y="0"/>
          <a:chExt cx="0" cy="0"/>
        </a:xfrm>
      </p:grpSpPr>
      <p:sp>
        <p:nvSpPr>
          <p:cNvPr id="44" name="Google Shape;44;p13"/>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3"/>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6"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drive.google.com/file/d/1PBUF5z3Ob1ttsUGA3poOgvfNGei0Uknd/view" TargetMode="Externa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pic>
        <p:nvPicPr>
          <p:cNvPr id="52" name="Google Shape;52;p15" title="Screenshot 2025-12-08 at 10.22.06 AM.png"/>
          <p:cNvPicPr preferRelativeResize="0"/>
          <p:nvPr/>
        </p:nvPicPr>
        <p:blipFill rotWithShape="1">
          <a:blip r:embed="rId3">
            <a:alphaModFix/>
          </a:blip>
          <a:srcRect b="3060" l="0" r="0" t="3060"/>
          <a:stretch/>
        </p:blipFill>
        <p:spPr>
          <a:xfrm>
            <a:off x="0" y="0"/>
            <a:ext cx="5486400" cy="8229600"/>
          </a:xfrm>
          <a:prstGeom prst="rect">
            <a:avLst/>
          </a:prstGeom>
          <a:noFill/>
          <a:ln>
            <a:noFill/>
          </a:ln>
        </p:spPr>
      </p:pic>
      <p:sp>
        <p:nvSpPr>
          <p:cNvPr id="53" name="Google Shape;53;p15"/>
          <p:cNvSpPr/>
          <p:nvPr/>
        </p:nvSpPr>
        <p:spPr>
          <a:xfrm>
            <a:off x="6280190" y="2427922"/>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a:buNone/>
            </a:pPr>
            <a:r>
              <a:rPr b="1" i="0" lang="en-US" sz="4450" u="none" cap="none" strike="noStrike">
                <a:solidFill>
                  <a:schemeClr val="accent6"/>
                </a:solidFill>
                <a:latin typeface="Fraunces"/>
                <a:ea typeface="Fraunces"/>
                <a:cs typeface="Fraunces"/>
                <a:sym typeface="Fraunces"/>
              </a:rPr>
              <a:t>COBRA SNAKE</a:t>
            </a:r>
            <a:endParaRPr b="0" i="0" sz="4450" u="none" cap="none" strike="noStrike">
              <a:solidFill>
                <a:schemeClr val="accent6"/>
              </a:solidFill>
            </a:endParaRPr>
          </a:p>
        </p:txBody>
      </p:sp>
      <p:sp>
        <p:nvSpPr>
          <p:cNvPr id="54" name="Google Shape;54;p15"/>
          <p:cNvSpPr/>
          <p:nvPr/>
        </p:nvSpPr>
        <p:spPr>
          <a:xfrm>
            <a:off x="6280190" y="3476863"/>
            <a:ext cx="75564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t/>
            </a:r>
            <a:endParaRPr b="0" i="0" sz="1750" u="none" cap="none" strike="noStrike"/>
          </a:p>
        </p:txBody>
      </p:sp>
      <p:sp>
        <p:nvSpPr>
          <p:cNvPr id="55" name="Google Shape;55;p15"/>
          <p:cNvSpPr/>
          <p:nvPr/>
        </p:nvSpPr>
        <p:spPr>
          <a:xfrm>
            <a:off x="6280190" y="4094917"/>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Elma Mostic | Kampe Ru</a:t>
            </a:r>
            <a:r>
              <a:rPr lang="en-US" sz="1750">
                <a:solidFill>
                  <a:srgbClr val="405449"/>
                </a:solidFill>
                <a:latin typeface="Nobile"/>
                <a:ea typeface="Nobile"/>
                <a:cs typeface="Nobile"/>
                <a:sym typeface="Nobile"/>
              </a:rPr>
              <a:t>shoka</a:t>
            </a:r>
            <a:r>
              <a:rPr b="0" i="0" lang="en-US" sz="1750" u="none" cap="none" strike="noStrike">
                <a:solidFill>
                  <a:srgbClr val="405449"/>
                </a:solidFill>
                <a:latin typeface="Nobile"/>
                <a:ea typeface="Nobile"/>
                <a:cs typeface="Nobile"/>
                <a:sym typeface="Nobile"/>
              </a:rPr>
              <a:t> | Providence T</a:t>
            </a:r>
            <a:r>
              <a:rPr lang="en-US" sz="1750">
                <a:solidFill>
                  <a:srgbClr val="405449"/>
                </a:solidFill>
                <a:latin typeface="Nobile"/>
                <a:ea typeface="Nobile"/>
                <a:cs typeface="Nobile"/>
                <a:sym typeface="Nobile"/>
              </a:rPr>
              <a:t>husabantu</a:t>
            </a:r>
            <a:r>
              <a:rPr b="0" i="0" lang="en-US" sz="1750" u="none" cap="none" strike="noStrike">
                <a:solidFill>
                  <a:srgbClr val="405449"/>
                </a:solidFill>
                <a:latin typeface="Nobile"/>
                <a:ea typeface="Nobile"/>
                <a:cs typeface="Nobile"/>
                <a:sym typeface="Nobile"/>
              </a:rPr>
              <a:t> | Jack </a:t>
            </a:r>
            <a:r>
              <a:rPr lang="en-US" sz="1750">
                <a:solidFill>
                  <a:srgbClr val="405449"/>
                </a:solidFill>
                <a:latin typeface="Nobile"/>
                <a:ea typeface="Nobile"/>
                <a:cs typeface="Nobile"/>
                <a:sym typeface="Nobile"/>
              </a:rPr>
              <a:t>Dong</a:t>
            </a:r>
            <a:endParaRPr b="0" i="0" sz="1750" u="none" cap="none" strike="noStrike"/>
          </a:p>
        </p:txBody>
      </p:sp>
      <p:sp>
        <p:nvSpPr>
          <p:cNvPr id="56" name="Google Shape;56;p15"/>
          <p:cNvSpPr/>
          <p:nvPr/>
        </p:nvSpPr>
        <p:spPr>
          <a:xfrm>
            <a:off x="6280190" y="3136698"/>
            <a:ext cx="75564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COMP 123: </a:t>
            </a:r>
            <a:r>
              <a:rPr lang="en-US" sz="1700">
                <a:solidFill>
                  <a:srgbClr val="333333"/>
                </a:solidFill>
                <a:highlight>
                  <a:srgbClr val="FFFFFF"/>
                </a:highlight>
                <a:latin typeface="Nobile"/>
                <a:ea typeface="Nobile"/>
                <a:cs typeface="Nobile"/>
                <a:sym typeface="Nobile"/>
              </a:rPr>
              <a:t>Core Concepts in Computer Science</a:t>
            </a:r>
            <a:br>
              <a:rPr lang="en-US" sz="1050">
                <a:solidFill>
                  <a:srgbClr val="333333"/>
                </a:solidFill>
                <a:highlight>
                  <a:srgbClr val="FFFFFF"/>
                </a:highlight>
                <a:latin typeface="Roboto"/>
                <a:ea typeface="Roboto"/>
                <a:cs typeface="Roboto"/>
                <a:sym typeface="Roboto"/>
              </a:rPr>
            </a:br>
            <a:r>
              <a:rPr b="0" i="0" lang="en-US" sz="1750" u="none" cap="none" strike="noStrike">
                <a:solidFill>
                  <a:srgbClr val="405449"/>
                </a:solidFill>
                <a:latin typeface="Nobile"/>
                <a:ea typeface="Nobile"/>
                <a:cs typeface="Nobile"/>
                <a:sym typeface="Nobile"/>
              </a:rPr>
              <a:t>Macalester College | December 202</a:t>
            </a:r>
            <a:r>
              <a:rPr lang="en-US" sz="1750">
                <a:solidFill>
                  <a:srgbClr val="405449"/>
                </a:solidFill>
                <a:latin typeface="Nobile"/>
                <a:ea typeface="Nobile"/>
                <a:cs typeface="Nobile"/>
                <a:sym typeface="Nobile"/>
              </a:rPr>
              <a:t>5</a:t>
            </a:r>
            <a:endParaRPr b="0" i="0" sz="17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6"/>
          <p:cNvSpPr/>
          <p:nvPr/>
        </p:nvSpPr>
        <p:spPr>
          <a:xfrm>
            <a:off x="793790" y="1322308"/>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a:buNone/>
            </a:pPr>
            <a:r>
              <a:rPr b="1" i="0" lang="en-US" sz="4450" u="none" cap="none" strike="noStrike">
                <a:solidFill>
                  <a:srgbClr val="438951"/>
                </a:solidFill>
                <a:latin typeface="Fraunces"/>
                <a:ea typeface="Fraunces"/>
                <a:cs typeface="Fraunces"/>
                <a:sym typeface="Fraunces"/>
              </a:rPr>
              <a:t>Project Overview</a:t>
            </a:r>
            <a:endParaRPr b="0" i="0" sz="4450" u="none" cap="none" strike="noStrike">
              <a:solidFill>
                <a:srgbClr val="438951"/>
              </a:solidFill>
            </a:endParaRPr>
          </a:p>
        </p:txBody>
      </p:sp>
      <p:sp>
        <p:nvSpPr>
          <p:cNvPr id="63" name="Google Shape;63;p16"/>
          <p:cNvSpPr/>
          <p:nvPr/>
        </p:nvSpPr>
        <p:spPr>
          <a:xfrm>
            <a:off x="793790" y="2598063"/>
            <a:ext cx="3402330"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3B4540"/>
              </a:buClr>
              <a:buSzPts val="2650"/>
              <a:buFont typeface="Fraunces"/>
              <a:buNone/>
            </a:pPr>
            <a:r>
              <a:rPr b="1" i="0" lang="en-US" sz="2650" u="none" cap="none" strike="noStrike">
                <a:solidFill>
                  <a:srgbClr val="3B4540"/>
                </a:solidFill>
                <a:latin typeface="Fraunces"/>
                <a:ea typeface="Fraunces"/>
                <a:cs typeface="Fraunces"/>
                <a:sym typeface="Fraunces"/>
              </a:rPr>
              <a:t>Objective</a:t>
            </a:r>
            <a:endParaRPr b="0" i="0" sz="2650" u="none" cap="none" strike="noStrike"/>
          </a:p>
        </p:txBody>
      </p:sp>
      <p:sp>
        <p:nvSpPr>
          <p:cNvPr id="64" name="Google Shape;64;p16"/>
          <p:cNvSpPr/>
          <p:nvPr/>
        </p:nvSpPr>
        <p:spPr>
          <a:xfrm>
            <a:off x="793790" y="3250168"/>
            <a:ext cx="3501509"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Recreate the classic Snake game with modern features using object-oriented programming principles</a:t>
            </a:r>
            <a:endParaRPr b="0" i="0" sz="1750" u="none" cap="none" strike="noStrike"/>
          </a:p>
        </p:txBody>
      </p:sp>
      <p:sp>
        <p:nvSpPr>
          <p:cNvPr id="65" name="Google Shape;65;p16"/>
          <p:cNvSpPr/>
          <p:nvPr/>
        </p:nvSpPr>
        <p:spPr>
          <a:xfrm>
            <a:off x="793790" y="4928592"/>
            <a:ext cx="3402330"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3B4540"/>
              </a:buClr>
              <a:buSzPts val="2650"/>
              <a:buFont typeface="Fraunces"/>
              <a:buNone/>
            </a:pPr>
            <a:r>
              <a:rPr b="1" i="0" lang="en-US" sz="2650" u="none" cap="none" strike="noStrike">
                <a:solidFill>
                  <a:srgbClr val="3B4540"/>
                </a:solidFill>
                <a:latin typeface="Fraunces"/>
                <a:ea typeface="Fraunces"/>
                <a:cs typeface="Fraunces"/>
                <a:sym typeface="Fraunces"/>
              </a:rPr>
              <a:t>Technology Stack</a:t>
            </a:r>
            <a:endParaRPr b="0" i="0" sz="2650" u="none" cap="none" strike="noStrike"/>
          </a:p>
        </p:txBody>
      </p:sp>
      <p:sp>
        <p:nvSpPr>
          <p:cNvPr id="66" name="Google Shape;66;p16"/>
          <p:cNvSpPr/>
          <p:nvPr/>
        </p:nvSpPr>
        <p:spPr>
          <a:xfrm>
            <a:off x="793790" y="5580698"/>
            <a:ext cx="35015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05449"/>
              </a:buClr>
              <a:buSzPts val="1750"/>
              <a:buFont typeface="Nobile"/>
              <a:buChar char="•"/>
            </a:pPr>
            <a:r>
              <a:rPr b="0" i="0" lang="en-US" sz="1750" u="none" cap="none" strike="noStrike">
                <a:solidFill>
                  <a:srgbClr val="405449"/>
                </a:solidFill>
                <a:latin typeface="Nobile"/>
                <a:ea typeface="Nobile"/>
                <a:cs typeface="Nobile"/>
                <a:sym typeface="Nobile"/>
              </a:rPr>
              <a:t>Python 3.13</a:t>
            </a:r>
            <a:endParaRPr b="0" i="0" sz="1750" u="none" cap="none" strike="noStrike"/>
          </a:p>
        </p:txBody>
      </p:sp>
      <p:sp>
        <p:nvSpPr>
          <p:cNvPr id="67" name="Google Shape;67;p16"/>
          <p:cNvSpPr/>
          <p:nvPr/>
        </p:nvSpPr>
        <p:spPr>
          <a:xfrm>
            <a:off x="793790" y="6022896"/>
            <a:ext cx="35015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05449"/>
              </a:buClr>
              <a:buSzPts val="1750"/>
              <a:buFont typeface="Nobile"/>
              <a:buChar char="•"/>
            </a:pPr>
            <a:r>
              <a:rPr b="0" i="0" lang="en-US" sz="1750" u="none" cap="none" strike="noStrike">
                <a:solidFill>
                  <a:srgbClr val="405449"/>
                </a:solidFill>
                <a:latin typeface="Nobile"/>
                <a:ea typeface="Nobile"/>
                <a:cs typeface="Nobile"/>
                <a:sym typeface="Nobile"/>
              </a:rPr>
              <a:t>Pygame 2.6.1</a:t>
            </a:r>
            <a:endParaRPr b="0" i="0" sz="1750" u="none" cap="none" strike="noStrike"/>
          </a:p>
        </p:txBody>
      </p:sp>
      <p:sp>
        <p:nvSpPr>
          <p:cNvPr id="68" name="Google Shape;68;p16"/>
          <p:cNvSpPr/>
          <p:nvPr/>
        </p:nvSpPr>
        <p:spPr>
          <a:xfrm>
            <a:off x="793790" y="6465094"/>
            <a:ext cx="35015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05449"/>
              </a:buClr>
              <a:buSzPts val="1750"/>
              <a:buFont typeface="Nobile"/>
              <a:buChar char="•"/>
            </a:pPr>
            <a:r>
              <a:rPr b="0" i="0" lang="en-US" sz="1750" u="none" cap="none" strike="noStrike">
                <a:solidFill>
                  <a:srgbClr val="405449"/>
                </a:solidFill>
                <a:latin typeface="Nobile"/>
                <a:ea typeface="Nobile"/>
                <a:cs typeface="Nobile"/>
                <a:sym typeface="Nobile"/>
              </a:rPr>
              <a:t>Git version control</a:t>
            </a:r>
            <a:endParaRPr b="0" i="0" sz="1750" u="none" cap="none" strike="noStrike"/>
          </a:p>
        </p:txBody>
      </p:sp>
      <p:sp>
        <p:nvSpPr>
          <p:cNvPr id="69" name="Google Shape;69;p16"/>
          <p:cNvSpPr/>
          <p:nvPr/>
        </p:nvSpPr>
        <p:spPr>
          <a:xfrm>
            <a:off x="4856321" y="2598063"/>
            <a:ext cx="3402330"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3B4540"/>
              </a:buClr>
              <a:buSzPts val="2650"/>
              <a:buFont typeface="Fraunces"/>
              <a:buNone/>
            </a:pPr>
            <a:r>
              <a:rPr b="1" i="0" lang="en-US" sz="2650" u="none" cap="none" strike="noStrike">
                <a:solidFill>
                  <a:srgbClr val="3B4540"/>
                </a:solidFill>
                <a:latin typeface="Fraunces"/>
                <a:ea typeface="Fraunces"/>
                <a:cs typeface="Fraunces"/>
                <a:sym typeface="Fraunces"/>
              </a:rPr>
              <a:t>Key Features</a:t>
            </a:r>
            <a:endParaRPr b="0" i="0" sz="2650" u="none" cap="none" strike="noStrike"/>
          </a:p>
        </p:txBody>
      </p:sp>
      <p:sp>
        <p:nvSpPr>
          <p:cNvPr id="70" name="Google Shape;70;p16"/>
          <p:cNvSpPr/>
          <p:nvPr/>
        </p:nvSpPr>
        <p:spPr>
          <a:xfrm>
            <a:off x="4856321" y="3250168"/>
            <a:ext cx="35015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05449"/>
              </a:buClr>
              <a:buSzPts val="1750"/>
              <a:buFont typeface="Nobile"/>
              <a:buChar char="•"/>
            </a:pPr>
            <a:r>
              <a:rPr b="0" i="0" lang="en-US" sz="1750" u="none" cap="none" strike="noStrike">
                <a:solidFill>
                  <a:srgbClr val="405449"/>
                </a:solidFill>
                <a:latin typeface="Nobile"/>
                <a:ea typeface="Nobile"/>
                <a:cs typeface="Nobile"/>
                <a:sym typeface="Nobile"/>
              </a:rPr>
              <a:t>Three difficulty levels (Easy/Medium/Hard)</a:t>
            </a:r>
            <a:endParaRPr b="0" i="0" sz="1750" u="none" cap="none" strike="noStrike"/>
          </a:p>
        </p:txBody>
      </p:sp>
      <p:sp>
        <p:nvSpPr>
          <p:cNvPr id="71" name="Google Shape;71;p16"/>
          <p:cNvSpPr/>
          <p:nvPr/>
        </p:nvSpPr>
        <p:spPr>
          <a:xfrm>
            <a:off x="4856321" y="4055269"/>
            <a:ext cx="35015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05449"/>
              </a:buClr>
              <a:buSzPts val="1750"/>
              <a:buFont typeface="Nobile"/>
              <a:buChar char="•"/>
            </a:pPr>
            <a:r>
              <a:rPr b="0" i="0" lang="en-US" sz="1750" u="none" cap="none" strike="noStrike">
                <a:solidFill>
                  <a:srgbClr val="405449"/>
                </a:solidFill>
                <a:latin typeface="Nobile"/>
                <a:ea typeface="Nobile"/>
                <a:cs typeface="Nobile"/>
                <a:sym typeface="Nobile"/>
              </a:rPr>
              <a:t>Real-time collision detection</a:t>
            </a:r>
            <a:endParaRPr b="0" i="0" sz="1750" u="none" cap="none" strike="noStrike"/>
          </a:p>
        </p:txBody>
      </p:sp>
      <p:sp>
        <p:nvSpPr>
          <p:cNvPr id="72" name="Google Shape;72;p16"/>
          <p:cNvSpPr/>
          <p:nvPr/>
        </p:nvSpPr>
        <p:spPr>
          <a:xfrm>
            <a:off x="4856321" y="4497467"/>
            <a:ext cx="35015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05449"/>
              </a:buClr>
              <a:buSzPts val="1750"/>
              <a:buFont typeface="Nobile"/>
              <a:buChar char="•"/>
            </a:pPr>
            <a:r>
              <a:rPr b="0" i="0" lang="en-US" sz="1750" u="none" cap="none" strike="noStrike">
                <a:solidFill>
                  <a:srgbClr val="405449"/>
                </a:solidFill>
                <a:latin typeface="Nobile"/>
                <a:ea typeface="Nobile"/>
                <a:cs typeface="Nobile"/>
                <a:sym typeface="Nobile"/>
              </a:rPr>
              <a:t>Dynamic obstacle generation</a:t>
            </a:r>
            <a:endParaRPr b="0" i="0" sz="1750" u="none" cap="none" strike="noStrike"/>
          </a:p>
        </p:txBody>
      </p:sp>
      <p:sp>
        <p:nvSpPr>
          <p:cNvPr id="73" name="Google Shape;73;p16"/>
          <p:cNvSpPr/>
          <p:nvPr/>
        </p:nvSpPr>
        <p:spPr>
          <a:xfrm>
            <a:off x="4856321" y="5302568"/>
            <a:ext cx="35015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05449"/>
              </a:buClr>
              <a:buSzPts val="1750"/>
              <a:buFont typeface="Nobile"/>
              <a:buChar char="•"/>
            </a:pPr>
            <a:r>
              <a:rPr b="0" i="0" lang="en-US" sz="1750" u="none" cap="none" strike="noStrike">
                <a:solidFill>
                  <a:srgbClr val="405449"/>
                </a:solidFill>
                <a:latin typeface="Nobile"/>
                <a:ea typeface="Nobile"/>
                <a:cs typeface="Nobile"/>
                <a:sym typeface="Nobile"/>
              </a:rPr>
              <a:t>Score tracking system</a:t>
            </a:r>
            <a:endParaRPr b="0" i="0" sz="1750" u="none" cap="none" strike="noStrike"/>
          </a:p>
        </p:txBody>
      </p:sp>
      <p:sp>
        <p:nvSpPr>
          <p:cNvPr id="74" name="Google Shape;74;p16"/>
          <p:cNvSpPr/>
          <p:nvPr/>
        </p:nvSpPr>
        <p:spPr>
          <a:xfrm>
            <a:off x="4856321" y="5744766"/>
            <a:ext cx="35015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05449"/>
              </a:buClr>
              <a:buSzPts val="1750"/>
              <a:buFont typeface="Nobile"/>
              <a:buChar char="•"/>
            </a:pPr>
            <a:r>
              <a:rPr b="0" i="0" lang="en-US" sz="1750" u="none" cap="none" strike="noStrike">
                <a:solidFill>
                  <a:srgbClr val="405449"/>
                </a:solidFill>
                <a:latin typeface="Nobile"/>
                <a:ea typeface="Nobile"/>
                <a:cs typeface="Nobile"/>
                <a:sym typeface="Nobile"/>
              </a:rPr>
              <a:t>Background music integration</a:t>
            </a:r>
            <a:endParaRPr b="0" i="0" sz="1750" u="none" cap="none" strike="noStrike"/>
          </a:p>
        </p:txBody>
      </p:sp>
      <p:pic>
        <p:nvPicPr>
          <p:cNvPr id="75" name="Google Shape;75;p16" title="Screenshot 2025-12-08 at 10.24.53 AM.png"/>
          <p:cNvPicPr preferRelativeResize="0"/>
          <p:nvPr/>
        </p:nvPicPr>
        <p:blipFill>
          <a:blip r:embed="rId3">
            <a:alphaModFix/>
          </a:blip>
          <a:stretch>
            <a:fillRect/>
          </a:stretch>
        </p:blipFill>
        <p:spPr>
          <a:xfrm>
            <a:off x="8671651" y="1927876"/>
            <a:ext cx="5670575" cy="49001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p:nvPr/>
        </p:nvSpPr>
        <p:spPr>
          <a:xfrm>
            <a:off x="793790" y="1498044"/>
            <a:ext cx="7408426"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a:buNone/>
            </a:pPr>
            <a:r>
              <a:rPr b="1" i="0" lang="en-US" sz="4450" u="none" cap="none" strike="noStrike">
                <a:solidFill>
                  <a:srgbClr val="3B4540"/>
                </a:solidFill>
                <a:latin typeface="Fraunces"/>
                <a:ea typeface="Fraunces"/>
                <a:cs typeface="Fraunces"/>
                <a:sym typeface="Fraunces"/>
              </a:rPr>
              <a:t>Gameplay Demonstration</a:t>
            </a:r>
            <a:endParaRPr b="0" i="0" sz="4450" u="none" cap="none" strike="noStrike"/>
          </a:p>
        </p:txBody>
      </p:sp>
      <p:sp>
        <p:nvSpPr>
          <p:cNvPr id="82" name="Google Shape;82;p17"/>
          <p:cNvSpPr/>
          <p:nvPr/>
        </p:nvSpPr>
        <p:spPr>
          <a:xfrm>
            <a:off x="793790" y="2546985"/>
            <a:ext cx="3664744" cy="1669852"/>
          </a:xfrm>
          <a:prstGeom prst="roundRect">
            <a:avLst>
              <a:gd fmla="val 12225"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7"/>
          <p:cNvSpPr/>
          <p:nvPr/>
        </p:nvSpPr>
        <p:spPr>
          <a:xfrm>
            <a:off x="1020604" y="277379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a:buNone/>
            </a:pPr>
            <a:r>
              <a:rPr b="1" i="0" lang="en-US" sz="2200" u="none" cap="none" strike="noStrike">
                <a:solidFill>
                  <a:srgbClr val="405449"/>
                </a:solidFill>
                <a:latin typeface="Fraunces"/>
                <a:ea typeface="Fraunces"/>
                <a:cs typeface="Fraunces"/>
                <a:sym typeface="Fraunces"/>
              </a:rPr>
              <a:t>Choose Difficulty</a:t>
            </a:r>
            <a:endParaRPr b="0" i="0" sz="2200" u="none" cap="none" strike="noStrike"/>
          </a:p>
        </p:txBody>
      </p:sp>
      <p:sp>
        <p:nvSpPr>
          <p:cNvPr id="84" name="Google Shape;84;p17"/>
          <p:cNvSpPr/>
          <p:nvPr/>
        </p:nvSpPr>
        <p:spPr>
          <a:xfrm>
            <a:off x="1020604" y="3264218"/>
            <a:ext cx="3211116"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Select Easy, Medium, or Hard mode</a:t>
            </a:r>
            <a:endParaRPr b="0" i="0" sz="1750" u="none" cap="none" strike="noStrike"/>
          </a:p>
        </p:txBody>
      </p:sp>
      <p:sp>
        <p:nvSpPr>
          <p:cNvPr id="85" name="Google Shape;85;p17"/>
          <p:cNvSpPr/>
          <p:nvPr/>
        </p:nvSpPr>
        <p:spPr>
          <a:xfrm>
            <a:off x="4685348" y="2546985"/>
            <a:ext cx="3664863" cy="1669852"/>
          </a:xfrm>
          <a:prstGeom prst="roundRect">
            <a:avLst>
              <a:gd fmla="val 12225"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7"/>
          <p:cNvSpPr/>
          <p:nvPr/>
        </p:nvSpPr>
        <p:spPr>
          <a:xfrm>
            <a:off x="4912162" y="277379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a:buNone/>
            </a:pPr>
            <a:r>
              <a:rPr b="1" i="0" lang="en-US" sz="2200" u="none" cap="none" strike="noStrike">
                <a:solidFill>
                  <a:srgbClr val="405449"/>
                </a:solidFill>
                <a:latin typeface="Fraunces"/>
                <a:ea typeface="Fraunces"/>
                <a:cs typeface="Fraunces"/>
                <a:sym typeface="Fraunces"/>
              </a:rPr>
              <a:t>Navigate &amp; Grow</a:t>
            </a:r>
            <a:endParaRPr b="0" i="0" sz="2200" u="none" cap="none" strike="noStrike"/>
          </a:p>
        </p:txBody>
      </p:sp>
      <p:sp>
        <p:nvSpPr>
          <p:cNvPr id="87" name="Google Shape;87;p17"/>
          <p:cNvSpPr/>
          <p:nvPr/>
        </p:nvSpPr>
        <p:spPr>
          <a:xfrm>
            <a:off x="4912162" y="3264218"/>
            <a:ext cx="321123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Use arrow keys to control snake and collect food</a:t>
            </a:r>
            <a:endParaRPr b="0" i="0" sz="1750" u="none" cap="none" strike="noStrike"/>
          </a:p>
        </p:txBody>
      </p:sp>
      <p:sp>
        <p:nvSpPr>
          <p:cNvPr id="88" name="Google Shape;88;p17"/>
          <p:cNvSpPr/>
          <p:nvPr/>
        </p:nvSpPr>
        <p:spPr>
          <a:xfrm>
            <a:off x="793790" y="4443651"/>
            <a:ext cx="7556421" cy="1306949"/>
          </a:xfrm>
          <a:prstGeom prst="roundRect">
            <a:avLst>
              <a:gd fmla="val 15620"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7"/>
          <p:cNvSpPr/>
          <p:nvPr/>
        </p:nvSpPr>
        <p:spPr>
          <a:xfrm>
            <a:off x="1020604" y="467046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a:buNone/>
            </a:pPr>
            <a:r>
              <a:rPr b="1" i="0" lang="en-US" sz="2200" u="none" cap="none" strike="noStrike">
                <a:solidFill>
                  <a:srgbClr val="405449"/>
                </a:solidFill>
                <a:latin typeface="Fraunces"/>
                <a:ea typeface="Fraunces"/>
                <a:cs typeface="Fraunces"/>
                <a:sym typeface="Fraunces"/>
              </a:rPr>
              <a:t>Avoid Hazards</a:t>
            </a:r>
            <a:endParaRPr b="0" i="0" sz="2200" u="none" cap="none" strike="noStrike"/>
          </a:p>
        </p:txBody>
      </p:sp>
      <p:sp>
        <p:nvSpPr>
          <p:cNvPr id="90" name="Google Shape;90;p17"/>
          <p:cNvSpPr/>
          <p:nvPr/>
        </p:nvSpPr>
        <p:spPr>
          <a:xfrm>
            <a:off x="1020604" y="5160883"/>
            <a:ext cx="7102793"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Dodge walls, obstacles, and your own tail</a:t>
            </a:r>
            <a:endParaRPr b="0" i="0" sz="1750" u="none" cap="none" strike="noStrike"/>
          </a:p>
        </p:txBody>
      </p:sp>
      <p:sp>
        <p:nvSpPr>
          <p:cNvPr id="91" name="Google Shape;91;p17"/>
          <p:cNvSpPr/>
          <p:nvPr/>
        </p:nvSpPr>
        <p:spPr>
          <a:xfrm>
            <a:off x="793790" y="6005751"/>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Live demonstration: 90 seconds of gameplay showcasing core mechanics</a:t>
            </a:r>
            <a:endParaRPr b="0" i="0" sz="1750" u="none" cap="none" strike="noStrike"/>
          </a:p>
        </p:txBody>
      </p:sp>
      <p:pic>
        <p:nvPicPr>
          <p:cNvPr id="92" name="Google Shape;92;p17" title="Screenshot 2025-12-08 at 10.22.47 AM.png"/>
          <p:cNvPicPr preferRelativeResize="0"/>
          <p:nvPr/>
        </p:nvPicPr>
        <p:blipFill>
          <a:blip r:embed="rId3">
            <a:alphaModFix/>
          </a:blip>
          <a:stretch>
            <a:fillRect/>
          </a:stretch>
        </p:blipFill>
        <p:spPr>
          <a:xfrm>
            <a:off x="8544050" y="2211525"/>
            <a:ext cx="5670576" cy="405040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p:nvPr/>
        </p:nvSpPr>
        <p:spPr>
          <a:xfrm>
            <a:off x="793790" y="3760351"/>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SzPts val="4450"/>
              <a:buFont typeface="Arial"/>
              <a:buNone/>
            </a:pPr>
            <a:r>
              <a:t/>
            </a:r>
            <a:endParaRPr b="0" i="0" sz="4450" u="none" cap="none" strike="noStrike"/>
          </a:p>
        </p:txBody>
      </p:sp>
      <p:sp>
        <p:nvSpPr>
          <p:cNvPr id="99" name="Google Shape;99;p18"/>
          <p:cNvSpPr/>
          <p:nvPr/>
        </p:nvSpPr>
        <p:spPr>
          <a:xfrm>
            <a:off x="4479890" y="103633"/>
            <a:ext cx="56706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a:buNone/>
            </a:pPr>
            <a:r>
              <a:rPr b="1" lang="en-US" sz="4450">
                <a:solidFill>
                  <a:srgbClr val="438951"/>
                </a:solidFill>
                <a:latin typeface="Fraunces"/>
                <a:ea typeface="Fraunces"/>
                <a:cs typeface="Fraunces"/>
                <a:sym typeface="Fraunces"/>
              </a:rPr>
              <a:t>Live </a:t>
            </a:r>
            <a:r>
              <a:rPr b="1" lang="en-US" sz="4450">
                <a:solidFill>
                  <a:srgbClr val="438951"/>
                </a:solidFill>
                <a:latin typeface="Fraunces"/>
                <a:ea typeface="Fraunces"/>
                <a:cs typeface="Fraunces"/>
                <a:sym typeface="Fraunces"/>
              </a:rPr>
              <a:t>Demonstration</a:t>
            </a:r>
            <a:endParaRPr b="0" i="0" sz="4450" u="none" cap="none" strike="noStrike">
              <a:solidFill>
                <a:srgbClr val="438951"/>
              </a:solidFill>
            </a:endParaRPr>
          </a:p>
        </p:txBody>
      </p:sp>
      <p:pic>
        <p:nvPicPr>
          <p:cNvPr id="100" name="Google Shape;100;p18" title="My Movie.mp4">
            <a:hlinkClick r:id="rId3"/>
          </p:cNvPr>
          <p:cNvPicPr preferRelativeResize="0"/>
          <p:nvPr/>
        </p:nvPicPr>
        <p:blipFill>
          <a:blip r:embed="rId4">
            <a:alphaModFix/>
          </a:blip>
          <a:stretch>
            <a:fillRect/>
          </a:stretch>
        </p:blipFill>
        <p:spPr>
          <a:xfrm>
            <a:off x="793800" y="1302450"/>
            <a:ext cx="13033700" cy="6012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000"/>
                                        <p:tgtEl>
                                          <p:spTgt spid="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p:nvPr/>
        </p:nvSpPr>
        <p:spPr>
          <a:xfrm>
            <a:off x="775216" y="609124"/>
            <a:ext cx="5950744" cy="62293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B4540"/>
              </a:buClr>
              <a:buSzPts val="3900"/>
              <a:buFont typeface="Fraunces"/>
              <a:buNone/>
            </a:pPr>
            <a:r>
              <a:rPr b="1" i="0" lang="en-US" sz="3900" u="none" cap="none" strike="noStrike">
                <a:solidFill>
                  <a:srgbClr val="3B4540"/>
                </a:solidFill>
                <a:latin typeface="Fraunces"/>
                <a:ea typeface="Fraunces"/>
                <a:cs typeface="Fraunces"/>
                <a:sym typeface="Fraunces"/>
              </a:rPr>
              <a:t>Object-Oriented Design</a:t>
            </a:r>
            <a:endParaRPr b="0" i="0" sz="3900" u="none" cap="none" strike="noStrike"/>
          </a:p>
        </p:txBody>
      </p:sp>
      <p:sp>
        <p:nvSpPr>
          <p:cNvPr id="107" name="Google Shape;107;p19"/>
          <p:cNvSpPr/>
          <p:nvPr/>
        </p:nvSpPr>
        <p:spPr>
          <a:xfrm>
            <a:off x="775216" y="1630680"/>
            <a:ext cx="13079968" cy="31884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405449"/>
              </a:buClr>
              <a:buSzPts val="1550"/>
              <a:buFont typeface="Nobile"/>
              <a:buNone/>
            </a:pPr>
            <a:r>
              <a:rPr b="0" i="0" lang="en-US" sz="1550" u="none" cap="none" strike="noStrike">
                <a:solidFill>
                  <a:srgbClr val="405449"/>
                </a:solidFill>
                <a:latin typeface="Nobile"/>
                <a:ea typeface="Nobile"/>
                <a:cs typeface="Nobile"/>
                <a:sym typeface="Nobile"/>
              </a:rPr>
              <a:t>Five core classes encapsulate game functionality with clear separation of concerns</a:t>
            </a:r>
            <a:endParaRPr b="0" i="0" sz="1550" u="none" cap="none" strike="noStrike"/>
          </a:p>
        </p:txBody>
      </p:sp>
      <p:sp>
        <p:nvSpPr>
          <p:cNvPr id="108" name="Google Shape;108;p19"/>
          <p:cNvSpPr/>
          <p:nvPr/>
        </p:nvSpPr>
        <p:spPr>
          <a:xfrm>
            <a:off x="775216" y="2472690"/>
            <a:ext cx="4227076" cy="1789152"/>
          </a:xfrm>
          <a:prstGeom prst="roundRect">
            <a:avLst>
              <a:gd fmla="val 6133" name="adj"/>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9"/>
          <p:cNvSpPr/>
          <p:nvPr/>
        </p:nvSpPr>
        <p:spPr>
          <a:xfrm>
            <a:off x="775216" y="2449830"/>
            <a:ext cx="4227076" cy="91440"/>
          </a:xfrm>
          <a:prstGeom prst="roundRect">
            <a:avLst>
              <a:gd fmla="val 196207" name="adj"/>
            </a:avLst>
          </a:prstGeom>
          <a:solidFill>
            <a:srgbClr val="4389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p:nvPr/>
        </p:nvSpPr>
        <p:spPr>
          <a:xfrm>
            <a:off x="2589728" y="2173724"/>
            <a:ext cx="597932" cy="597932"/>
          </a:xfrm>
          <a:prstGeom prst="roundRect">
            <a:avLst>
              <a:gd fmla="val 152927" name="adj"/>
            </a:avLst>
          </a:prstGeom>
          <a:solidFill>
            <a:srgbClr val="4389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9"/>
          <p:cNvSpPr/>
          <p:nvPr/>
        </p:nvSpPr>
        <p:spPr>
          <a:xfrm>
            <a:off x="2769037" y="2323148"/>
            <a:ext cx="239197" cy="298966"/>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FFFFF"/>
              </a:buClr>
              <a:buSzPts val="1850"/>
              <a:buFont typeface="Fraunces"/>
              <a:buNone/>
            </a:pPr>
            <a:r>
              <a:rPr b="1" i="0" lang="en-US" sz="1850" u="none" cap="none" strike="noStrike">
                <a:solidFill>
                  <a:srgbClr val="FFFFFF"/>
                </a:solidFill>
                <a:latin typeface="Fraunces"/>
                <a:ea typeface="Fraunces"/>
                <a:cs typeface="Fraunces"/>
                <a:sym typeface="Fraunces"/>
              </a:rPr>
              <a:t>1</a:t>
            </a:r>
            <a:endParaRPr b="0" i="0" sz="1850" u="none" cap="none" strike="noStrike"/>
          </a:p>
        </p:txBody>
      </p:sp>
      <p:sp>
        <p:nvSpPr>
          <p:cNvPr id="112" name="Google Shape;112;p19"/>
          <p:cNvSpPr/>
          <p:nvPr/>
        </p:nvSpPr>
        <p:spPr>
          <a:xfrm>
            <a:off x="997387" y="2970967"/>
            <a:ext cx="2491740" cy="31146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405449"/>
              </a:buClr>
              <a:buSzPts val="1950"/>
              <a:buFont typeface="Fraunces"/>
              <a:buNone/>
            </a:pPr>
            <a:r>
              <a:rPr b="1" lang="en-US" sz="1950">
                <a:solidFill>
                  <a:srgbClr val="405449"/>
                </a:solidFill>
                <a:latin typeface="Fraunces"/>
                <a:ea typeface="Fraunces"/>
                <a:cs typeface="Fraunces"/>
                <a:sym typeface="Fraunces"/>
              </a:rPr>
              <a:t>🐍  </a:t>
            </a:r>
            <a:r>
              <a:rPr b="1" i="0" lang="en-US" sz="1950" u="none" cap="none" strike="noStrike">
                <a:solidFill>
                  <a:srgbClr val="405449"/>
                </a:solidFill>
                <a:latin typeface="Fraunces"/>
                <a:ea typeface="Fraunces"/>
                <a:cs typeface="Fraunces"/>
                <a:sym typeface="Fraunces"/>
              </a:rPr>
              <a:t>Snake</a:t>
            </a:r>
            <a:endParaRPr b="0" i="0" sz="1950" u="none" cap="none" strike="noStrike"/>
          </a:p>
        </p:txBody>
      </p:sp>
      <p:sp>
        <p:nvSpPr>
          <p:cNvPr id="113" name="Google Shape;113;p19"/>
          <p:cNvSpPr/>
          <p:nvPr/>
        </p:nvSpPr>
        <p:spPr>
          <a:xfrm>
            <a:off x="997387" y="3401973"/>
            <a:ext cx="3782735" cy="63769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405449"/>
              </a:buClr>
              <a:buSzPts val="1550"/>
              <a:buFont typeface="Nobile"/>
              <a:buNone/>
            </a:pPr>
            <a:r>
              <a:rPr b="0" i="0" lang="en-US" sz="1550" u="none" cap="none" strike="noStrike">
                <a:solidFill>
                  <a:srgbClr val="405449"/>
                </a:solidFill>
                <a:latin typeface="Nobile"/>
                <a:ea typeface="Nobile"/>
                <a:cs typeface="Nobile"/>
                <a:sym typeface="Nobile"/>
              </a:rPr>
              <a:t>Movement logic, growth mechanics, and rendering</a:t>
            </a:r>
            <a:endParaRPr b="0" i="0" sz="1550" u="none" cap="none" strike="noStrike"/>
          </a:p>
        </p:txBody>
      </p:sp>
      <p:sp>
        <p:nvSpPr>
          <p:cNvPr id="114" name="Google Shape;114;p19"/>
          <p:cNvSpPr/>
          <p:nvPr/>
        </p:nvSpPr>
        <p:spPr>
          <a:xfrm>
            <a:off x="5201603" y="2472690"/>
            <a:ext cx="4227076" cy="1789152"/>
          </a:xfrm>
          <a:prstGeom prst="roundRect">
            <a:avLst>
              <a:gd fmla="val 6133" name="adj"/>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9"/>
          <p:cNvSpPr/>
          <p:nvPr/>
        </p:nvSpPr>
        <p:spPr>
          <a:xfrm>
            <a:off x="5201603" y="2449830"/>
            <a:ext cx="4227076" cy="91440"/>
          </a:xfrm>
          <a:prstGeom prst="roundRect">
            <a:avLst>
              <a:gd fmla="val 196207" name="adj"/>
            </a:avLst>
          </a:prstGeom>
          <a:solidFill>
            <a:srgbClr val="4389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9"/>
          <p:cNvSpPr/>
          <p:nvPr/>
        </p:nvSpPr>
        <p:spPr>
          <a:xfrm>
            <a:off x="7016115" y="2173724"/>
            <a:ext cx="597932" cy="597932"/>
          </a:xfrm>
          <a:prstGeom prst="roundRect">
            <a:avLst>
              <a:gd fmla="val 152927" name="adj"/>
            </a:avLst>
          </a:prstGeom>
          <a:solidFill>
            <a:srgbClr val="4389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9"/>
          <p:cNvSpPr/>
          <p:nvPr/>
        </p:nvSpPr>
        <p:spPr>
          <a:xfrm>
            <a:off x="7195423" y="2323148"/>
            <a:ext cx="239197" cy="298966"/>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FFFFF"/>
              </a:buClr>
              <a:buSzPts val="1850"/>
              <a:buFont typeface="Fraunces"/>
              <a:buNone/>
            </a:pPr>
            <a:r>
              <a:rPr b="1" i="0" lang="en-US" sz="1850" u="none" cap="none" strike="noStrike">
                <a:solidFill>
                  <a:srgbClr val="FFFFFF"/>
                </a:solidFill>
                <a:latin typeface="Fraunces"/>
                <a:ea typeface="Fraunces"/>
                <a:cs typeface="Fraunces"/>
                <a:sym typeface="Fraunces"/>
              </a:rPr>
              <a:t>2</a:t>
            </a:r>
            <a:endParaRPr b="0" i="0" sz="1850" u="none" cap="none" strike="noStrike"/>
          </a:p>
        </p:txBody>
      </p:sp>
      <p:sp>
        <p:nvSpPr>
          <p:cNvPr id="118" name="Google Shape;118;p19"/>
          <p:cNvSpPr/>
          <p:nvPr/>
        </p:nvSpPr>
        <p:spPr>
          <a:xfrm>
            <a:off x="5423773" y="2970967"/>
            <a:ext cx="2491740" cy="31146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405449"/>
              </a:buClr>
              <a:buSzPts val="1950"/>
              <a:buFont typeface="Fraunces"/>
              <a:buNone/>
            </a:pPr>
            <a:r>
              <a:rPr b="1" lang="en-US" sz="1950">
                <a:solidFill>
                  <a:srgbClr val="405449"/>
                </a:solidFill>
                <a:latin typeface="Fraunces"/>
                <a:ea typeface="Fraunces"/>
                <a:cs typeface="Fraunces"/>
                <a:sym typeface="Fraunces"/>
              </a:rPr>
              <a:t> 🍎 </a:t>
            </a:r>
            <a:r>
              <a:rPr b="1" i="0" lang="en-US" sz="1950" u="none" cap="none" strike="noStrike">
                <a:solidFill>
                  <a:srgbClr val="405449"/>
                </a:solidFill>
                <a:latin typeface="Fraunces"/>
                <a:ea typeface="Fraunces"/>
                <a:cs typeface="Fraunces"/>
                <a:sym typeface="Fraunces"/>
              </a:rPr>
              <a:t>Food</a:t>
            </a:r>
            <a:endParaRPr b="0" i="0" sz="1950" u="none" cap="none" strike="noStrike"/>
          </a:p>
        </p:txBody>
      </p:sp>
      <p:sp>
        <p:nvSpPr>
          <p:cNvPr id="119" name="Google Shape;119;p19"/>
          <p:cNvSpPr/>
          <p:nvPr/>
        </p:nvSpPr>
        <p:spPr>
          <a:xfrm>
            <a:off x="5423773" y="3401973"/>
            <a:ext cx="3782735" cy="63769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405449"/>
              </a:buClr>
              <a:buSzPts val="1550"/>
              <a:buFont typeface="Nobile"/>
              <a:buNone/>
            </a:pPr>
            <a:r>
              <a:rPr b="0" i="0" lang="en-US" sz="1550" u="none" cap="none" strike="noStrike">
                <a:solidFill>
                  <a:srgbClr val="405449"/>
                </a:solidFill>
                <a:latin typeface="Nobile"/>
                <a:ea typeface="Nobile"/>
                <a:cs typeface="Nobile"/>
                <a:sym typeface="Nobile"/>
              </a:rPr>
              <a:t>Position generation and collision validation</a:t>
            </a:r>
            <a:endParaRPr b="0" i="0" sz="1550" u="none" cap="none" strike="noStrike"/>
          </a:p>
        </p:txBody>
      </p:sp>
      <p:sp>
        <p:nvSpPr>
          <p:cNvPr id="120" name="Google Shape;120;p19"/>
          <p:cNvSpPr/>
          <p:nvPr/>
        </p:nvSpPr>
        <p:spPr>
          <a:xfrm>
            <a:off x="9627989" y="2472690"/>
            <a:ext cx="4227076" cy="1789152"/>
          </a:xfrm>
          <a:prstGeom prst="roundRect">
            <a:avLst>
              <a:gd fmla="val 6133" name="adj"/>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9"/>
          <p:cNvSpPr/>
          <p:nvPr/>
        </p:nvSpPr>
        <p:spPr>
          <a:xfrm>
            <a:off x="9627989" y="2449830"/>
            <a:ext cx="4227076" cy="91440"/>
          </a:xfrm>
          <a:prstGeom prst="roundRect">
            <a:avLst>
              <a:gd fmla="val 196207" name="adj"/>
            </a:avLst>
          </a:prstGeom>
          <a:solidFill>
            <a:srgbClr val="4389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9"/>
          <p:cNvSpPr/>
          <p:nvPr/>
        </p:nvSpPr>
        <p:spPr>
          <a:xfrm>
            <a:off x="11442502" y="2173724"/>
            <a:ext cx="597932" cy="597932"/>
          </a:xfrm>
          <a:prstGeom prst="roundRect">
            <a:avLst>
              <a:gd fmla="val 152927" name="adj"/>
            </a:avLst>
          </a:prstGeom>
          <a:solidFill>
            <a:srgbClr val="4389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9"/>
          <p:cNvSpPr/>
          <p:nvPr/>
        </p:nvSpPr>
        <p:spPr>
          <a:xfrm>
            <a:off x="11621810" y="2323148"/>
            <a:ext cx="239197" cy="298966"/>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FFFFF"/>
              </a:buClr>
              <a:buSzPts val="1850"/>
              <a:buFont typeface="Fraunces"/>
              <a:buNone/>
            </a:pPr>
            <a:r>
              <a:rPr b="1" i="0" lang="en-US" sz="1850" u="none" cap="none" strike="noStrike">
                <a:solidFill>
                  <a:srgbClr val="FFFFFF"/>
                </a:solidFill>
                <a:latin typeface="Fraunces"/>
                <a:ea typeface="Fraunces"/>
                <a:cs typeface="Fraunces"/>
                <a:sym typeface="Fraunces"/>
              </a:rPr>
              <a:t>3</a:t>
            </a:r>
            <a:endParaRPr b="0" i="0" sz="1850" u="none" cap="none" strike="noStrike"/>
          </a:p>
        </p:txBody>
      </p:sp>
      <p:sp>
        <p:nvSpPr>
          <p:cNvPr id="124" name="Google Shape;124;p19"/>
          <p:cNvSpPr/>
          <p:nvPr/>
        </p:nvSpPr>
        <p:spPr>
          <a:xfrm>
            <a:off x="9778025" y="2970975"/>
            <a:ext cx="2563800" cy="3114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405449"/>
              </a:buClr>
              <a:buSzPts val="1950"/>
              <a:buFont typeface="Fraunces"/>
              <a:buNone/>
            </a:pPr>
            <a:r>
              <a:rPr b="1" lang="en-US" sz="1950">
                <a:solidFill>
                  <a:srgbClr val="405449"/>
                </a:solidFill>
                <a:latin typeface="Fraunces"/>
                <a:ea typeface="Fraunces"/>
                <a:cs typeface="Fraunces"/>
                <a:sym typeface="Fraunces"/>
              </a:rPr>
              <a:t>💥 </a:t>
            </a:r>
            <a:r>
              <a:rPr b="1" i="0" lang="en-US" sz="1950" u="none" cap="none" strike="noStrike">
                <a:solidFill>
                  <a:srgbClr val="405449"/>
                </a:solidFill>
                <a:latin typeface="Fraunces"/>
                <a:ea typeface="Fraunces"/>
                <a:cs typeface="Fraunces"/>
                <a:sym typeface="Fraunces"/>
              </a:rPr>
              <a:t>Collision Detector</a:t>
            </a:r>
            <a:endParaRPr b="0" i="0" sz="1950" u="none" cap="none" strike="noStrike"/>
          </a:p>
        </p:txBody>
      </p:sp>
      <p:sp>
        <p:nvSpPr>
          <p:cNvPr id="125" name="Google Shape;125;p19"/>
          <p:cNvSpPr/>
          <p:nvPr/>
        </p:nvSpPr>
        <p:spPr>
          <a:xfrm>
            <a:off x="9850160" y="3401973"/>
            <a:ext cx="3782735" cy="31884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405449"/>
              </a:buClr>
              <a:buSzPts val="1550"/>
              <a:buFont typeface="Nobile"/>
              <a:buNone/>
            </a:pPr>
            <a:r>
              <a:rPr b="0" i="0" lang="en-US" sz="1550" u="none" cap="none" strike="noStrike">
                <a:solidFill>
                  <a:srgbClr val="405449"/>
                </a:solidFill>
                <a:latin typeface="Nobile"/>
                <a:ea typeface="Nobile"/>
                <a:cs typeface="Nobile"/>
                <a:sym typeface="Nobile"/>
              </a:rPr>
              <a:t>Boundary and entity collision checks</a:t>
            </a:r>
            <a:endParaRPr b="0" i="0" sz="1550" u="none" cap="none" strike="noStrike"/>
          </a:p>
        </p:txBody>
      </p:sp>
      <p:sp>
        <p:nvSpPr>
          <p:cNvPr id="126" name="Google Shape;126;p19"/>
          <p:cNvSpPr/>
          <p:nvPr/>
        </p:nvSpPr>
        <p:spPr>
          <a:xfrm>
            <a:off x="775216" y="4760119"/>
            <a:ext cx="6440210" cy="1470303"/>
          </a:xfrm>
          <a:prstGeom prst="roundRect">
            <a:avLst>
              <a:gd fmla="val 7463" name="adj"/>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9"/>
          <p:cNvSpPr/>
          <p:nvPr/>
        </p:nvSpPr>
        <p:spPr>
          <a:xfrm>
            <a:off x="775216" y="4737259"/>
            <a:ext cx="6440210" cy="91440"/>
          </a:xfrm>
          <a:prstGeom prst="roundRect">
            <a:avLst>
              <a:gd fmla="val 196207" name="adj"/>
            </a:avLst>
          </a:prstGeom>
          <a:solidFill>
            <a:srgbClr val="4389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a:off x="3696295" y="4461153"/>
            <a:ext cx="597932" cy="597932"/>
          </a:xfrm>
          <a:prstGeom prst="roundRect">
            <a:avLst>
              <a:gd fmla="val 152927" name="adj"/>
            </a:avLst>
          </a:prstGeom>
          <a:solidFill>
            <a:srgbClr val="4389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9"/>
          <p:cNvSpPr/>
          <p:nvPr/>
        </p:nvSpPr>
        <p:spPr>
          <a:xfrm>
            <a:off x="3875603" y="4610576"/>
            <a:ext cx="239197" cy="298966"/>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FFFFF"/>
              </a:buClr>
              <a:buSzPts val="1850"/>
              <a:buFont typeface="Fraunces"/>
              <a:buNone/>
            </a:pPr>
            <a:r>
              <a:rPr b="1" i="0" lang="en-US" sz="1850" u="none" cap="none" strike="noStrike">
                <a:solidFill>
                  <a:srgbClr val="FFFFFF"/>
                </a:solidFill>
                <a:latin typeface="Fraunces"/>
                <a:ea typeface="Fraunces"/>
                <a:cs typeface="Fraunces"/>
                <a:sym typeface="Fraunces"/>
              </a:rPr>
              <a:t>4</a:t>
            </a:r>
            <a:endParaRPr b="0" i="0" sz="1850" u="none" cap="none" strike="noStrike"/>
          </a:p>
        </p:txBody>
      </p:sp>
      <p:sp>
        <p:nvSpPr>
          <p:cNvPr id="130" name="Google Shape;130;p19"/>
          <p:cNvSpPr/>
          <p:nvPr/>
        </p:nvSpPr>
        <p:spPr>
          <a:xfrm>
            <a:off x="997387" y="5258395"/>
            <a:ext cx="2491740" cy="31146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405449"/>
              </a:buClr>
              <a:buSzPts val="1950"/>
              <a:buFont typeface="Fraunces"/>
              <a:buNone/>
            </a:pPr>
            <a:r>
              <a:rPr b="1" lang="en-US" sz="1950">
                <a:solidFill>
                  <a:srgbClr val="405449"/>
                </a:solidFill>
                <a:latin typeface="Fraunces"/>
                <a:ea typeface="Fraunces"/>
                <a:cs typeface="Fraunces"/>
                <a:sym typeface="Fraunces"/>
              </a:rPr>
              <a:t> 📊 </a:t>
            </a:r>
            <a:r>
              <a:rPr b="1" i="0" lang="en-US" sz="1950" u="none" cap="none" strike="noStrike">
                <a:solidFill>
                  <a:srgbClr val="405449"/>
                </a:solidFill>
                <a:latin typeface="Fraunces"/>
                <a:ea typeface="Fraunces"/>
                <a:cs typeface="Fraunces"/>
                <a:sym typeface="Fraunces"/>
              </a:rPr>
              <a:t>Score</a:t>
            </a:r>
            <a:endParaRPr b="0" i="0" sz="1950" u="none" cap="none" strike="noStrike"/>
          </a:p>
        </p:txBody>
      </p:sp>
      <p:sp>
        <p:nvSpPr>
          <p:cNvPr id="131" name="Google Shape;131;p19"/>
          <p:cNvSpPr/>
          <p:nvPr/>
        </p:nvSpPr>
        <p:spPr>
          <a:xfrm>
            <a:off x="997387" y="5689402"/>
            <a:ext cx="5995868" cy="31884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405449"/>
              </a:buClr>
              <a:buSzPts val="1550"/>
              <a:buFont typeface="Nobile"/>
              <a:buNone/>
            </a:pPr>
            <a:r>
              <a:rPr b="0" i="0" lang="en-US" sz="1550" u="none" cap="none" strike="noStrike">
                <a:solidFill>
                  <a:srgbClr val="405449"/>
                </a:solidFill>
                <a:latin typeface="Nobile"/>
                <a:ea typeface="Nobile"/>
                <a:cs typeface="Nobile"/>
                <a:sym typeface="Nobile"/>
              </a:rPr>
              <a:t>Point accumulation and display</a:t>
            </a:r>
            <a:endParaRPr b="0" i="0" sz="1550" u="none" cap="none" strike="noStrike"/>
          </a:p>
        </p:txBody>
      </p:sp>
      <p:sp>
        <p:nvSpPr>
          <p:cNvPr id="132" name="Google Shape;132;p19"/>
          <p:cNvSpPr/>
          <p:nvPr/>
        </p:nvSpPr>
        <p:spPr>
          <a:xfrm>
            <a:off x="7414736" y="4760119"/>
            <a:ext cx="6440329" cy="1470303"/>
          </a:xfrm>
          <a:prstGeom prst="roundRect">
            <a:avLst>
              <a:gd fmla="val 7463" name="adj"/>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9"/>
          <p:cNvSpPr/>
          <p:nvPr/>
        </p:nvSpPr>
        <p:spPr>
          <a:xfrm>
            <a:off x="7414736" y="4737259"/>
            <a:ext cx="6440329" cy="91440"/>
          </a:xfrm>
          <a:prstGeom prst="roundRect">
            <a:avLst>
              <a:gd fmla="val 196207" name="adj"/>
            </a:avLst>
          </a:prstGeom>
          <a:solidFill>
            <a:srgbClr val="4389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9"/>
          <p:cNvSpPr/>
          <p:nvPr/>
        </p:nvSpPr>
        <p:spPr>
          <a:xfrm>
            <a:off x="10335935" y="4461153"/>
            <a:ext cx="597932" cy="597932"/>
          </a:xfrm>
          <a:prstGeom prst="roundRect">
            <a:avLst>
              <a:gd fmla="val 152927" name="adj"/>
            </a:avLst>
          </a:prstGeom>
          <a:solidFill>
            <a:srgbClr val="4389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9"/>
          <p:cNvSpPr/>
          <p:nvPr/>
        </p:nvSpPr>
        <p:spPr>
          <a:xfrm>
            <a:off x="10515243" y="4610576"/>
            <a:ext cx="239197" cy="298966"/>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FFFFF"/>
              </a:buClr>
              <a:buSzPts val="1850"/>
              <a:buFont typeface="Fraunces"/>
              <a:buNone/>
            </a:pPr>
            <a:r>
              <a:rPr b="1" i="0" lang="en-US" sz="1850" u="none" cap="none" strike="noStrike">
                <a:solidFill>
                  <a:srgbClr val="FFFFFF"/>
                </a:solidFill>
                <a:latin typeface="Fraunces"/>
                <a:ea typeface="Fraunces"/>
                <a:cs typeface="Fraunces"/>
                <a:sym typeface="Fraunces"/>
              </a:rPr>
              <a:t>5</a:t>
            </a:r>
            <a:endParaRPr b="0" i="0" sz="1850" u="none" cap="none" strike="noStrike"/>
          </a:p>
        </p:txBody>
      </p:sp>
      <p:sp>
        <p:nvSpPr>
          <p:cNvPr id="136" name="Google Shape;136;p19"/>
          <p:cNvSpPr/>
          <p:nvPr/>
        </p:nvSpPr>
        <p:spPr>
          <a:xfrm>
            <a:off x="7636907" y="5258395"/>
            <a:ext cx="2491740" cy="31146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405449"/>
              </a:buClr>
              <a:buSzPts val="1950"/>
              <a:buFont typeface="Fraunces"/>
              <a:buNone/>
            </a:pPr>
            <a:r>
              <a:rPr b="1" lang="en-US" sz="1950">
                <a:solidFill>
                  <a:srgbClr val="405449"/>
                </a:solidFill>
                <a:latin typeface="Fraunces"/>
                <a:ea typeface="Fraunces"/>
                <a:cs typeface="Fraunces"/>
                <a:sym typeface="Fraunces"/>
              </a:rPr>
              <a:t>🚧 </a:t>
            </a:r>
            <a:r>
              <a:rPr b="1" i="0" lang="en-US" sz="1950" u="none" cap="none" strike="noStrike">
                <a:solidFill>
                  <a:srgbClr val="405449"/>
                </a:solidFill>
                <a:latin typeface="Fraunces"/>
                <a:ea typeface="Fraunces"/>
                <a:cs typeface="Fraunces"/>
                <a:sym typeface="Fraunces"/>
              </a:rPr>
              <a:t>Obstacles</a:t>
            </a:r>
            <a:endParaRPr b="0" i="0" sz="1950" u="none" cap="none" strike="noStrike"/>
          </a:p>
        </p:txBody>
      </p:sp>
      <p:sp>
        <p:nvSpPr>
          <p:cNvPr id="137" name="Google Shape;137;p19"/>
          <p:cNvSpPr/>
          <p:nvPr/>
        </p:nvSpPr>
        <p:spPr>
          <a:xfrm>
            <a:off x="7636907" y="5689402"/>
            <a:ext cx="5995987" cy="31884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405449"/>
              </a:buClr>
              <a:buSzPts val="1550"/>
              <a:buFont typeface="Nobile"/>
              <a:buNone/>
            </a:pPr>
            <a:r>
              <a:rPr b="0" i="0" lang="en-US" sz="1550" u="none" cap="none" strike="noStrike">
                <a:solidFill>
                  <a:srgbClr val="405449"/>
                </a:solidFill>
                <a:latin typeface="Nobile"/>
                <a:ea typeface="Nobile"/>
                <a:cs typeface="Nobile"/>
                <a:sym typeface="Nobile"/>
              </a:rPr>
              <a:t>Dynamic hazard generation with safe spawning</a:t>
            </a:r>
            <a:endParaRPr b="0" i="0" sz="1550" u="none" cap="none" strike="noStrike"/>
          </a:p>
        </p:txBody>
      </p:sp>
      <p:sp>
        <p:nvSpPr>
          <p:cNvPr id="138" name="Google Shape;138;p19"/>
          <p:cNvSpPr/>
          <p:nvPr/>
        </p:nvSpPr>
        <p:spPr>
          <a:xfrm>
            <a:off x="775216" y="6454616"/>
            <a:ext cx="13079968" cy="1165741"/>
          </a:xfrm>
          <a:prstGeom prst="roundRect">
            <a:avLst>
              <a:gd fmla="val 15390" name="adj"/>
            </a:avLst>
          </a:prstGeom>
          <a:solidFill>
            <a:srgbClr val="CCE6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9" name="Google Shape;139;p19"/>
          <p:cNvPicPr preferRelativeResize="0"/>
          <p:nvPr/>
        </p:nvPicPr>
        <p:blipFill rotWithShape="1">
          <a:blip r:embed="rId3">
            <a:alphaModFix/>
          </a:blip>
          <a:srcRect b="0" l="0" r="0" t="0"/>
          <a:stretch/>
        </p:blipFill>
        <p:spPr>
          <a:xfrm>
            <a:off x="974527" y="6742628"/>
            <a:ext cx="249079" cy="199311"/>
          </a:xfrm>
          <a:prstGeom prst="rect">
            <a:avLst/>
          </a:prstGeom>
          <a:noFill/>
          <a:ln>
            <a:noFill/>
          </a:ln>
        </p:spPr>
      </p:pic>
      <p:sp>
        <p:nvSpPr>
          <p:cNvPr id="140" name="Google Shape;140;p19"/>
          <p:cNvSpPr/>
          <p:nvPr/>
        </p:nvSpPr>
        <p:spPr>
          <a:xfrm>
            <a:off x="1422916" y="6703695"/>
            <a:ext cx="12232958" cy="63769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000000"/>
              </a:buClr>
              <a:buSzPts val="1550"/>
              <a:buFont typeface="Nobile"/>
              <a:buNone/>
            </a:pPr>
            <a:r>
              <a:rPr b="1" i="0" lang="en-US" sz="1550" u="none" cap="none" strike="noStrike">
                <a:solidFill>
                  <a:srgbClr val="000000"/>
                </a:solidFill>
                <a:latin typeface="Nobile"/>
                <a:ea typeface="Nobile"/>
                <a:cs typeface="Nobile"/>
                <a:sym typeface="Nobile"/>
              </a:rPr>
              <a:t>Design Principle:</a:t>
            </a:r>
            <a:r>
              <a:rPr b="0" i="0" lang="en-US" sz="1550" u="none" cap="none" strike="noStrike">
                <a:solidFill>
                  <a:srgbClr val="000000"/>
                </a:solidFill>
                <a:latin typeface="Nobile"/>
                <a:ea typeface="Nobile"/>
                <a:cs typeface="Nobile"/>
                <a:sym typeface="Nobile"/>
              </a:rPr>
              <a:t> Each class encapsulates a single responsibility. Modular structure enables independent development and testing.</a:t>
            </a:r>
            <a:endParaRPr b="0" i="0" sz="15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0"/>
          <p:cNvSpPr/>
          <p:nvPr/>
        </p:nvSpPr>
        <p:spPr>
          <a:xfrm>
            <a:off x="721638" y="566976"/>
            <a:ext cx="5835729" cy="515541"/>
          </a:xfrm>
          <a:prstGeom prst="rect">
            <a:avLst/>
          </a:prstGeom>
          <a:noFill/>
          <a:ln>
            <a:noFill/>
          </a:ln>
        </p:spPr>
        <p:txBody>
          <a:bodyPr anchorCtr="0" anchor="t" bIns="0" lIns="0" spcFirstLastPara="1" rIns="0" wrap="square" tIns="0">
            <a:noAutofit/>
          </a:bodyPr>
          <a:lstStyle/>
          <a:p>
            <a:pPr indent="0" lvl="0" marL="0" marR="0" rtl="0" algn="l">
              <a:lnSpc>
                <a:spcPct val="126562"/>
              </a:lnSpc>
              <a:spcBef>
                <a:spcPts val="0"/>
              </a:spcBef>
              <a:spcAft>
                <a:spcPts val="0"/>
              </a:spcAft>
              <a:buClr>
                <a:srgbClr val="3B4540"/>
              </a:buClr>
              <a:buSzPts val="3200"/>
              <a:buFont typeface="Fraunces"/>
              <a:buNone/>
            </a:pPr>
            <a:r>
              <a:rPr b="1" i="0" lang="en-US" sz="3200" u="none" cap="none" strike="noStrike">
                <a:solidFill>
                  <a:srgbClr val="3B4540"/>
                </a:solidFill>
                <a:latin typeface="Fraunces"/>
                <a:ea typeface="Fraunces"/>
                <a:cs typeface="Fraunces"/>
                <a:sym typeface="Fraunces"/>
              </a:rPr>
              <a:t>Snake Movement Algorithm</a:t>
            </a:r>
            <a:endParaRPr b="0" i="0" sz="3200" u="none" cap="none" strike="noStrike"/>
          </a:p>
        </p:txBody>
      </p:sp>
      <p:sp>
        <p:nvSpPr>
          <p:cNvPr id="147" name="Google Shape;147;p20"/>
          <p:cNvSpPr/>
          <p:nvPr/>
        </p:nvSpPr>
        <p:spPr>
          <a:xfrm>
            <a:off x="721638" y="1515428"/>
            <a:ext cx="7071717" cy="4998720"/>
          </a:xfrm>
          <a:prstGeom prst="roundRect">
            <a:avLst>
              <a:gd fmla="val 2970" name="adj"/>
            </a:avLst>
          </a:prstGeom>
          <a:solidFill>
            <a:srgbClr val="EDF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0"/>
          <p:cNvSpPr/>
          <p:nvPr/>
        </p:nvSpPr>
        <p:spPr>
          <a:xfrm>
            <a:off x="713425" y="1515425"/>
            <a:ext cx="7172100" cy="5811000"/>
          </a:xfrm>
          <a:prstGeom prst="roundRect">
            <a:avLst>
              <a:gd fmla="val 495" name="adj"/>
            </a:avLst>
          </a:prstGeom>
          <a:solidFill>
            <a:srgbClr val="EDF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0"/>
          <p:cNvSpPr/>
          <p:nvPr/>
        </p:nvSpPr>
        <p:spPr>
          <a:xfrm>
            <a:off x="878324" y="1639133"/>
            <a:ext cx="6758345" cy="4751308"/>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def move(self):</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"""Move snake one step."""</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head = self.body[0]</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 Calculate new head</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if self.direction == 'UP':</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new = [head[0], </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head[1] - self.size]</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elif self.direction == 'DOWN':</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new = [head[0], </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head[1] + self.size]</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self.body.insert(0, new)</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if not self.growing:</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self.body.pop()</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else:</a:t>
            </a:r>
            <a:endParaRPr b="1" i="0" sz="1250" u="none" cap="none" strike="noStrike">
              <a:solidFill>
                <a:srgbClr val="438951"/>
              </a:solidFill>
            </a:endParaRPr>
          </a:p>
          <a:p>
            <a:pPr indent="0" lvl="0" marL="0" marR="0" rtl="0" algn="l">
              <a:lnSpc>
                <a:spcPct val="164000"/>
              </a:lnSpc>
              <a:spcBef>
                <a:spcPts val="0"/>
              </a:spcBef>
              <a:spcAft>
                <a:spcPts val="0"/>
              </a:spcAft>
              <a:buClr>
                <a:srgbClr val="405449"/>
              </a:buClr>
              <a:buSzPts val="1250"/>
              <a:buFont typeface="Consolas"/>
              <a:buNone/>
            </a:pPr>
            <a:r>
              <a:rPr b="1" i="0" lang="en-US" sz="1250" u="none" cap="none" strike="noStrike">
                <a:solidFill>
                  <a:srgbClr val="438951"/>
                </a:solidFill>
                <a:highlight>
                  <a:srgbClr val="EDF2ED"/>
                </a:highlight>
                <a:latin typeface="Consolas"/>
                <a:ea typeface="Consolas"/>
                <a:cs typeface="Consolas"/>
                <a:sym typeface="Consolas"/>
              </a:rPr>
              <a:t>        self.growing = False</a:t>
            </a:r>
            <a:endParaRPr b="1" i="0" sz="1250" u="none" cap="none" strike="noStrike">
              <a:solidFill>
                <a:srgbClr val="438951"/>
              </a:solidFill>
            </a:endParaRPr>
          </a:p>
        </p:txBody>
      </p:sp>
      <p:sp>
        <p:nvSpPr>
          <p:cNvPr id="150" name="Google Shape;150;p20"/>
          <p:cNvSpPr/>
          <p:nvPr/>
        </p:nvSpPr>
        <p:spPr>
          <a:xfrm>
            <a:off x="8088706" y="1515418"/>
            <a:ext cx="2474400" cy="3093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3B4540"/>
              </a:buClr>
              <a:buSzPts val="1900"/>
              <a:buFont typeface="Fraunces"/>
              <a:buNone/>
            </a:pPr>
            <a:r>
              <a:rPr b="1" i="0" lang="en-US" sz="2400" u="none" cap="none" strike="noStrike">
                <a:solidFill>
                  <a:schemeClr val="accent6"/>
                </a:solidFill>
                <a:latin typeface="Fraunces"/>
                <a:ea typeface="Fraunces"/>
                <a:cs typeface="Fraunces"/>
                <a:sym typeface="Fraunces"/>
              </a:rPr>
              <a:t>How It Works</a:t>
            </a:r>
            <a:endParaRPr b="0" i="0" sz="2400" u="none" cap="none" strike="noStrike">
              <a:solidFill>
                <a:schemeClr val="accent6"/>
              </a:solidFill>
            </a:endParaRPr>
          </a:p>
        </p:txBody>
      </p:sp>
      <p:sp>
        <p:nvSpPr>
          <p:cNvPr id="151" name="Google Shape;151;p20"/>
          <p:cNvSpPr/>
          <p:nvPr/>
        </p:nvSpPr>
        <p:spPr>
          <a:xfrm>
            <a:off x="8088706" y="1989525"/>
            <a:ext cx="5712900" cy="264000"/>
          </a:xfrm>
          <a:prstGeom prst="rect">
            <a:avLst/>
          </a:prstGeom>
          <a:noFill/>
          <a:ln>
            <a:noFill/>
          </a:ln>
        </p:spPr>
        <p:txBody>
          <a:bodyPr anchorCtr="0" anchor="t" bIns="0" lIns="0" spcFirstLastPara="1" rIns="0" wrap="square" tIns="0">
            <a:noAutofit/>
          </a:bodyPr>
          <a:lstStyle/>
          <a:p>
            <a:pPr indent="-374650" lvl="0" marL="342900" marR="0" rtl="0" algn="l">
              <a:lnSpc>
                <a:spcPct val="164000"/>
              </a:lnSpc>
              <a:spcBef>
                <a:spcPts val="0"/>
              </a:spcBef>
              <a:spcAft>
                <a:spcPts val="0"/>
              </a:spcAft>
              <a:buClr>
                <a:srgbClr val="405449"/>
              </a:buClr>
              <a:buSzPts val="1750"/>
              <a:buFont typeface="Nobile"/>
              <a:buChar char="•"/>
            </a:pPr>
            <a:r>
              <a:rPr b="0" i="0" lang="en-US" sz="1750" u="none" cap="none" strike="noStrike">
                <a:solidFill>
                  <a:srgbClr val="405449"/>
                </a:solidFill>
                <a:latin typeface="Nobile"/>
                <a:ea typeface="Nobile"/>
                <a:cs typeface="Nobile"/>
                <a:sym typeface="Nobile"/>
              </a:rPr>
              <a:t>Calculate new head position based on direction</a:t>
            </a:r>
            <a:endParaRPr b="0" i="0" sz="1750" u="none" cap="none" strike="noStrike">
              <a:solidFill>
                <a:srgbClr val="405449"/>
              </a:solidFill>
              <a:latin typeface="Nobile"/>
              <a:ea typeface="Nobile"/>
              <a:cs typeface="Nobile"/>
              <a:sym typeface="Nobile"/>
            </a:endParaRPr>
          </a:p>
          <a:p>
            <a:pPr indent="0" lvl="0" marL="457200" marR="0" rtl="0" algn="l">
              <a:lnSpc>
                <a:spcPct val="164000"/>
              </a:lnSpc>
              <a:spcBef>
                <a:spcPts val="0"/>
              </a:spcBef>
              <a:spcAft>
                <a:spcPts val="0"/>
              </a:spcAft>
              <a:buNone/>
            </a:pPr>
            <a:r>
              <a:t/>
            </a:r>
            <a:endParaRPr sz="1750">
              <a:solidFill>
                <a:srgbClr val="405449"/>
              </a:solidFill>
              <a:latin typeface="Nobile"/>
              <a:ea typeface="Nobile"/>
              <a:cs typeface="Nobile"/>
              <a:sym typeface="Nobile"/>
            </a:endParaRPr>
          </a:p>
        </p:txBody>
      </p:sp>
      <p:sp>
        <p:nvSpPr>
          <p:cNvPr id="152" name="Google Shape;152;p20"/>
          <p:cNvSpPr/>
          <p:nvPr/>
        </p:nvSpPr>
        <p:spPr>
          <a:xfrm>
            <a:off x="8088706" y="2311112"/>
            <a:ext cx="5712900" cy="264000"/>
          </a:xfrm>
          <a:prstGeom prst="rect">
            <a:avLst/>
          </a:prstGeom>
          <a:noFill/>
          <a:ln>
            <a:noFill/>
          </a:ln>
        </p:spPr>
        <p:txBody>
          <a:bodyPr anchorCtr="0" anchor="t" bIns="0" lIns="0" spcFirstLastPara="1" rIns="0" wrap="square" tIns="0">
            <a:noAutofit/>
          </a:bodyPr>
          <a:lstStyle/>
          <a:p>
            <a:pPr indent="-374650" lvl="0" marL="342900" marR="0" rtl="0" algn="l">
              <a:lnSpc>
                <a:spcPct val="164000"/>
              </a:lnSpc>
              <a:spcBef>
                <a:spcPts val="0"/>
              </a:spcBef>
              <a:spcAft>
                <a:spcPts val="0"/>
              </a:spcAft>
              <a:buClr>
                <a:srgbClr val="405449"/>
              </a:buClr>
              <a:buSzPts val="1750"/>
              <a:buFont typeface="Nobile"/>
              <a:buChar char="•"/>
            </a:pPr>
            <a:r>
              <a:rPr b="0" i="0" lang="en-US" sz="1750" u="none" cap="none" strike="noStrike">
                <a:solidFill>
                  <a:srgbClr val="405449"/>
                </a:solidFill>
                <a:latin typeface="Nobile"/>
                <a:ea typeface="Nobile"/>
                <a:cs typeface="Nobile"/>
                <a:sym typeface="Nobile"/>
              </a:rPr>
              <a:t>Insert new head at front of body list</a:t>
            </a:r>
            <a:endParaRPr b="0" i="0" sz="1750" u="none" cap="none" strike="noStrike"/>
          </a:p>
        </p:txBody>
      </p:sp>
      <p:sp>
        <p:nvSpPr>
          <p:cNvPr id="153" name="Google Shape;153;p20"/>
          <p:cNvSpPr/>
          <p:nvPr/>
        </p:nvSpPr>
        <p:spPr>
          <a:xfrm>
            <a:off x="8088706" y="2632700"/>
            <a:ext cx="5712900" cy="264000"/>
          </a:xfrm>
          <a:prstGeom prst="rect">
            <a:avLst/>
          </a:prstGeom>
          <a:noFill/>
          <a:ln>
            <a:noFill/>
          </a:ln>
        </p:spPr>
        <p:txBody>
          <a:bodyPr anchorCtr="0" anchor="t" bIns="0" lIns="0" spcFirstLastPara="1" rIns="0" wrap="square" tIns="0">
            <a:noAutofit/>
          </a:bodyPr>
          <a:lstStyle/>
          <a:p>
            <a:pPr indent="-374650" lvl="0" marL="342900" marR="0" rtl="0" algn="l">
              <a:lnSpc>
                <a:spcPct val="164000"/>
              </a:lnSpc>
              <a:spcBef>
                <a:spcPts val="0"/>
              </a:spcBef>
              <a:spcAft>
                <a:spcPts val="0"/>
              </a:spcAft>
              <a:buClr>
                <a:srgbClr val="405449"/>
              </a:buClr>
              <a:buSzPts val="1750"/>
              <a:buFont typeface="Nobile"/>
              <a:buChar char="•"/>
            </a:pPr>
            <a:r>
              <a:rPr b="0" i="0" lang="en-US" sz="1750" u="none" cap="none" strike="noStrike">
                <a:solidFill>
                  <a:srgbClr val="405449"/>
                </a:solidFill>
                <a:latin typeface="Nobile"/>
                <a:ea typeface="Nobile"/>
                <a:cs typeface="Nobile"/>
                <a:sym typeface="Nobile"/>
              </a:rPr>
              <a:t>Remove tail unless snake is growing</a:t>
            </a:r>
            <a:endParaRPr b="0" i="0" sz="1750" u="none" cap="none" strike="noStrike"/>
          </a:p>
        </p:txBody>
      </p:sp>
      <p:sp>
        <p:nvSpPr>
          <p:cNvPr id="154" name="Google Shape;154;p20"/>
          <p:cNvSpPr/>
          <p:nvPr/>
        </p:nvSpPr>
        <p:spPr>
          <a:xfrm>
            <a:off x="8088706" y="2954288"/>
            <a:ext cx="5712900" cy="264000"/>
          </a:xfrm>
          <a:prstGeom prst="rect">
            <a:avLst/>
          </a:prstGeom>
          <a:noFill/>
          <a:ln>
            <a:noFill/>
          </a:ln>
        </p:spPr>
        <p:txBody>
          <a:bodyPr anchorCtr="0" anchor="t" bIns="0" lIns="0" spcFirstLastPara="1" rIns="0" wrap="square" tIns="0">
            <a:noAutofit/>
          </a:bodyPr>
          <a:lstStyle/>
          <a:p>
            <a:pPr indent="-374650" lvl="0" marL="342900" marR="0" rtl="0" algn="l">
              <a:lnSpc>
                <a:spcPct val="164000"/>
              </a:lnSpc>
              <a:spcBef>
                <a:spcPts val="0"/>
              </a:spcBef>
              <a:spcAft>
                <a:spcPts val="0"/>
              </a:spcAft>
              <a:buClr>
                <a:srgbClr val="405449"/>
              </a:buClr>
              <a:buSzPts val="1750"/>
              <a:buFont typeface="Nobile"/>
              <a:buChar char="•"/>
            </a:pPr>
            <a:r>
              <a:rPr b="0" i="0" lang="en-US" sz="1750" u="none" cap="none" strike="noStrike">
                <a:solidFill>
                  <a:srgbClr val="405449"/>
                </a:solidFill>
                <a:latin typeface="Nobile"/>
                <a:ea typeface="Nobile"/>
                <a:cs typeface="Nobile"/>
                <a:sym typeface="Nobile"/>
              </a:rPr>
              <a:t>List operations enable O(1) growth</a:t>
            </a:r>
            <a:endParaRPr b="0" i="0" sz="1750" u="none" cap="none" strike="noStrike"/>
          </a:p>
        </p:txBody>
      </p:sp>
      <p:pic>
        <p:nvPicPr>
          <p:cNvPr id="155" name="Google Shape;155;p20" title="Screenshot 2025-12-08 at 10.59.07 AM.png"/>
          <p:cNvPicPr preferRelativeResize="0"/>
          <p:nvPr/>
        </p:nvPicPr>
        <p:blipFill>
          <a:blip r:embed="rId3">
            <a:alphaModFix/>
          </a:blip>
          <a:stretch>
            <a:fillRect/>
          </a:stretch>
        </p:blipFill>
        <p:spPr>
          <a:xfrm>
            <a:off x="8140775" y="3370698"/>
            <a:ext cx="5608738" cy="39557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1"/>
          <p:cNvSpPr/>
          <p:nvPr/>
        </p:nvSpPr>
        <p:spPr>
          <a:xfrm>
            <a:off x="793790" y="753308"/>
            <a:ext cx="6556772" cy="602456"/>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3B4540"/>
              </a:buClr>
              <a:buSzPts val="3750"/>
              <a:buFont typeface="Fraunces"/>
              <a:buNone/>
            </a:pPr>
            <a:r>
              <a:rPr b="1" i="0" lang="en-US" sz="3750" u="none" cap="none" strike="noStrike">
                <a:solidFill>
                  <a:srgbClr val="3B4540"/>
                </a:solidFill>
                <a:latin typeface="Fraunces"/>
                <a:ea typeface="Fraunces"/>
                <a:cs typeface="Fraunces"/>
                <a:sym typeface="Fraunces"/>
              </a:rPr>
              <a:t>Collision Detection System</a:t>
            </a:r>
            <a:endParaRPr b="0" i="0" sz="3750" u="none" cap="none" strike="noStrike"/>
          </a:p>
        </p:txBody>
      </p:sp>
      <p:pic>
        <p:nvPicPr>
          <p:cNvPr descr="preencoded.png" id="162" name="Google Shape;162;p21"/>
          <p:cNvPicPr preferRelativeResize="0"/>
          <p:nvPr/>
        </p:nvPicPr>
        <p:blipFill rotWithShape="1">
          <a:blip r:embed="rId3">
            <a:alphaModFix/>
          </a:blip>
          <a:srcRect b="0" l="0" r="0" t="0"/>
          <a:stretch/>
        </p:blipFill>
        <p:spPr>
          <a:xfrm>
            <a:off x="793790" y="1741289"/>
            <a:ext cx="963930" cy="1156811"/>
          </a:xfrm>
          <a:prstGeom prst="rect">
            <a:avLst/>
          </a:prstGeom>
          <a:noFill/>
          <a:ln>
            <a:noFill/>
          </a:ln>
        </p:spPr>
      </p:pic>
      <p:sp>
        <p:nvSpPr>
          <p:cNvPr id="163" name="Google Shape;163;p21"/>
          <p:cNvSpPr/>
          <p:nvPr/>
        </p:nvSpPr>
        <p:spPr>
          <a:xfrm>
            <a:off x="1950482" y="1934051"/>
            <a:ext cx="2409944" cy="301228"/>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05449"/>
              </a:buClr>
              <a:buSzPts val="1850"/>
              <a:buFont typeface="Fraunces"/>
              <a:buNone/>
            </a:pPr>
            <a:r>
              <a:rPr b="1" i="0" lang="en-US" sz="1850" u="none" cap="none" strike="noStrike">
                <a:solidFill>
                  <a:srgbClr val="438951"/>
                </a:solidFill>
                <a:latin typeface="Fraunces"/>
                <a:ea typeface="Fraunces"/>
                <a:cs typeface="Fraunces"/>
                <a:sym typeface="Fraunces"/>
              </a:rPr>
              <a:t>Wall Collision</a:t>
            </a:r>
            <a:endParaRPr b="0" i="0" sz="1850" u="none" cap="none" strike="noStrike">
              <a:solidFill>
                <a:srgbClr val="438951"/>
              </a:solidFill>
            </a:endParaRPr>
          </a:p>
        </p:txBody>
      </p:sp>
      <p:sp>
        <p:nvSpPr>
          <p:cNvPr id="164" name="Google Shape;164;p21"/>
          <p:cNvSpPr/>
          <p:nvPr/>
        </p:nvSpPr>
        <p:spPr>
          <a:xfrm>
            <a:off x="1950482" y="2350889"/>
            <a:ext cx="11886128" cy="30837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05449"/>
              </a:buClr>
              <a:buSzPts val="1500"/>
              <a:buFont typeface="Nobile"/>
              <a:buNone/>
            </a:pPr>
            <a:r>
              <a:rPr b="0" i="0" lang="en-US" sz="1500" u="none" cap="none" strike="noStrike">
                <a:solidFill>
                  <a:srgbClr val="405449"/>
                </a:solidFill>
                <a:latin typeface="Nobile"/>
                <a:ea typeface="Nobile"/>
                <a:cs typeface="Nobile"/>
                <a:sym typeface="Nobile"/>
              </a:rPr>
              <a:t>Validate boundary constraints—check if head exceeds screen dimensions</a:t>
            </a:r>
            <a:endParaRPr b="0" i="0" sz="1500" u="none" cap="none" strike="noStrike"/>
          </a:p>
        </p:txBody>
      </p:sp>
      <p:pic>
        <p:nvPicPr>
          <p:cNvPr descr="preencoded.png" id="165" name="Google Shape;165;p21"/>
          <p:cNvPicPr preferRelativeResize="0"/>
          <p:nvPr/>
        </p:nvPicPr>
        <p:blipFill rotWithShape="1">
          <a:blip r:embed="rId4">
            <a:alphaModFix/>
          </a:blip>
          <a:srcRect b="0" l="0" r="0" t="0"/>
          <a:stretch/>
        </p:blipFill>
        <p:spPr>
          <a:xfrm>
            <a:off x="793790" y="2898100"/>
            <a:ext cx="963930" cy="1156811"/>
          </a:xfrm>
          <a:prstGeom prst="rect">
            <a:avLst/>
          </a:prstGeom>
          <a:noFill/>
          <a:ln>
            <a:noFill/>
          </a:ln>
        </p:spPr>
      </p:pic>
      <p:sp>
        <p:nvSpPr>
          <p:cNvPr id="166" name="Google Shape;166;p21"/>
          <p:cNvSpPr/>
          <p:nvPr/>
        </p:nvSpPr>
        <p:spPr>
          <a:xfrm>
            <a:off x="1950482" y="3090863"/>
            <a:ext cx="2409944" cy="301228"/>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05449"/>
              </a:buClr>
              <a:buSzPts val="1850"/>
              <a:buFont typeface="Fraunces"/>
              <a:buNone/>
            </a:pPr>
            <a:r>
              <a:rPr b="1" i="0" lang="en-US" sz="1850" u="none" cap="none" strike="noStrike">
                <a:solidFill>
                  <a:srgbClr val="438951"/>
                </a:solidFill>
                <a:latin typeface="Fraunces"/>
                <a:ea typeface="Fraunces"/>
                <a:cs typeface="Fraunces"/>
                <a:sym typeface="Fraunces"/>
              </a:rPr>
              <a:t>Food Collision</a:t>
            </a:r>
            <a:endParaRPr b="0" i="0" sz="1850" u="none" cap="none" strike="noStrike">
              <a:solidFill>
                <a:srgbClr val="438951"/>
              </a:solidFill>
            </a:endParaRPr>
          </a:p>
        </p:txBody>
      </p:sp>
      <p:sp>
        <p:nvSpPr>
          <p:cNvPr id="167" name="Google Shape;167;p21"/>
          <p:cNvSpPr/>
          <p:nvPr/>
        </p:nvSpPr>
        <p:spPr>
          <a:xfrm>
            <a:off x="1950482" y="3507700"/>
            <a:ext cx="11886128" cy="30837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05449"/>
              </a:buClr>
              <a:buSzPts val="1500"/>
              <a:buFont typeface="Nobile"/>
              <a:buNone/>
            </a:pPr>
            <a:r>
              <a:rPr b="0" i="0" lang="en-US" sz="1500" u="none" cap="none" strike="noStrike">
                <a:solidFill>
                  <a:srgbClr val="405449"/>
                </a:solidFill>
                <a:latin typeface="Nobile"/>
                <a:ea typeface="Nobile"/>
                <a:cs typeface="Nobile"/>
                <a:sym typeface="Nobile"/>
              </a:rPr>
              <a:t>Exact coordinate matching between snake head and food position</a:t>
            </a:r>
            <a:endParaRPr b="0" i="0" sz="1500" u="none" cap="none" strike="noStrike"/>
          </a:p>
        </p:txBody>
      </p:sp>
      <p:pic>
        <p:nvPicPr>
          <p:cNvPr descr="preencoded.png" id="168" name="Google Shape;168;p21"/>
          <p:cNvPicPr preferRelativeResize="0"/>
          <p:nvPr/>
        </p:nvPicPr>
        <p:blipFill rotWithShape="1">
          <a:blip r:embed="rId5">
            <a:alphaModFix/>
          </a:blip>
          <a:srcRect b="0" l="0" r="0" t="0"/>
          <a:stretch/>
        </p:blipFill>
        <p:spPr>
          <a:xfrm>
            <a:off x="793790" y="4054912"/>
            <a:ext cx="963930" cy="1156811"/>
          </a:xfrm>
          <a:prstGeom prst="rect">
            <a:avLst/>
          </a:prstGeom>
          <a:noFill/>
          <a:ln>
            <a:noFill/>
          </a:ln>
        </p:spPr>
      </p:pic>
      <p:sp>
        <p:nvSpPr>
          <p:cNvPr id="169" name="Google Shape;169;p21"/>
          <p:cNvSpPr/>
          <p:nvPr/>
        </p:nvSpPr>
        <p:spPr>
          <a:xfrm>
            <a:off x="1950482" y="4247674"/>
            <a:ext cx="2409944" cy="301228"/>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05449"/>
              </a:buClr>
              <a:buSzPts val="1850"/>
              <a:buFont typeface="Fraunces"/>
              <a:buNone/>
            </a:pPr>
            <a:r>
              <a:rPr b="1" i="0" lang="en-US" sz="1850" u="none" cap="none" strike="noStrike">
                <a:solidFill>
                  <a:srgbClr val="438951"/>
                </a:solidFill>
                <a:latin typeface="Fraunces"/>
                <a:ea typeface="Fraunces"/>
                <a:cs typeface="Fraunces"/>
                <a:sym typeface="Fraunces"/>
              </a:rPr>
              <a:t>Self Collision</a:t>
            </a:r>
            <a:endParaRPr b="0" i="0" sz="1850" u="none" cap="none" strike="noStrike">
              <a:solidFill>
                <a:srgbClr val="438951"/>
              </a:solidFill>
            </a:endParaRPr>
          </a:p>
        </p:txBody>
      </p:sp>
      <p:sp>
        <p:nvSpPr>
          <p:cNvPr id="170" name="Google Shape;170;p21"/>
          <p:cNvSpPr/>
          <p:nvPr/>
        </p:nvSpPr>
        <p:spPr>
          <a:xfrm>
            <a:off x="1950482" y="4664512"/>
            <a:ext cx="11886128" cy="30837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05449"/>
              </a:buClr>
              <a:buSzPts val="1500"/>
              <a:buFont typeface="Nobile"/>
              <a:buNone/>
            </a:pPr>
            <a:r>
              <a:rPr b="0" i="0" lang="en-US" sz="1500" u="none" cap="none" strike="noStrike">
                <a:solidFill>
                  <a:srgbClr val="405449"/>
                </a:solidFill>
                <a:latin typeface="Nobile"/>
                <a:ea typeface="Nobile"/>
                <a:cs typeface="Nobile"/>
                <a:sym typeface="Nobile"/>
              </a:rPr>
              <a:t>Head-body intersection test to detect if snake hits itself</a:t>
            </a:r>
            <a:endParaRPr b="0" i="0" sz="1500" u="none" cap="none" strike="noStrike"/>
          </a:p>
        </p:txBody>
      </p:sp>
      <p:sp>
        <p:nvSpPr>
          <p:cNvPr id="171" name="Google Shape;171;p21"/>
          <p:cNvSpPr/>
          <p:nvPr/>
        </p:nvSpPr>
        <p:spPr>
          <a:xfrm>
            <a:off x="793790" y="5428536"/>
            <a:ext cx="13042821" cy="1522571"/>
          </a:xfrm>
          <a:prstGeom prst="roundRect">
            <a:avLst>
              <a:gd fmla="val 11397" name="adj"/>
            </a:avLst>
          </a:prstGeom>
          <a:solidFill>
            <a:srgbClr val="EDF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1"/>
          <p:cNvSpPr/>
          <p:nvPr/>
        </p:nvSpPr>
        <p:spPr>
          <a:xfrm>
            <a:off x="784265" y="5428536"/>
            <a:ext cx="13061871" cy="1522571"/>
          </a:xfrm>
          <a:prstGeom prst="roundRect">
            <a:avLst>
              <a:gd fmla="val 1899" name="adj"/>
            </a:avLst>
          </a:prstGeom>
          <a:solidFill>
            <a:srgbClr val="EDF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1"/>
          <p:cNvSpPr/>
          <p:nvPr/>
        </p:nvSpPr>
        <p:spPr>
          <a:xfrm>
            <a:off x="977027" y="5573078"/>
            <a:ext cx="12676346" cy="123348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05449"/>
              </a:buClr>
              <a:buSzPts val="1500"/>
              <a:buFont typeface="Consolas"/>
              <a:buNone/>
            </a:pPr>
            <a:r>
              <a:rPr b="0" i="0" lang="en-US" sz="1500" u="none" cap="none" strike="noStrike">
                <a:solidFill>
                  <a:srgbClr val="405449"/>
                </a:solidFill>
                <a:highlight>
                  <a:srgbClr val="EDF2ED"/>
                </a:highlight>
                <a:latin typeface="Consolas"/>
                <a:ea typeface="Consolas"/>
                <a:cs typeface="Consolas"/>
                <a:sym typeface="Consolas"/>
              </a:rPr>
              <a:t>d</a:t>
            </a:r>
            <a:r>
              <a:rPr b="0" i="0" lang="en-US" sz="1500" u="none" cap="none" strike="noStrike">
                <a:solidFill>
                  <a:srgbClr val="405449"/>
                </a:solidFill>
                <a:highlight>
                  <a:srgbClr val="EDF2ED"/>
                </a:highlight>
                <a:latin typeface="Consolas"/>
                <a:ea typeface="Consolas"/>
                <a:cs typeface="Consolas"/>
                <a:sym typeface="Consolas"/>
              </a:rPr>
              <a:t>ef check_wall_collision(self, snake_head):</a:t>
            </a:r>
            <a:endParaRPr b="0" i="0" sz="1500" u="none" cap="none" strike="noStrike"/>
          </a:p>
          <a:p>
            <a:pPr indent="0" lvl="0" marL="0" marR="0" rtl="0" algn="l">
              <a:lnSpc>
                <a:spcPct val="160000"/>
              </a:lnSpc>
              <a:spcBef>
                <a:spcPts val="0"/>
              </a:spcBef>
              <a:spcAft>
                <a:spcPts val="0"/>
              </a:spcAft>
              <a:buClr>
                <a:srgbClr val="405449"/>
              </a:buClr>
              <a:buSzPts val="1500"/>
              <a:buFont typeface="Consolas"/>
              <a:buNone/>
            </a:pPr>
            <a:r>
              <a:rPr b="0" i="0" lang="en-US" sz="1500" u="none" cap="none" strike="noStrike">
                <a:solidFill>
                  <a:srgbClr val="405449"/>
                </a:solidFill>
                <a:highlight>
                  <a:srgbClr val="EDF2ED"/>
                </a:highlight>
                <a:latin typeface="Consolas"/>
                <a:ea typeface="Consolas"/>
                <a:cs typeface="Consolas"/>
                <a:sym typeface="Consolas"/>
              </a:rPr>
              <a:t>    x, y = snake_head</a:t>
            </a:r>
            <a:endParaRPr b="0" i="0" sz="1500" u="none" cap="none" strike="noStrike"/>
          </a:p>
          <a:p>
            <a:pPr indent="0" lvl="0" marL="0" marR="0" rtl="0" algn="l">
              <a:lnSpc>
                <a:spcPct val="160000"/>
              </a:lnSpc>
              <a:spcBef>
                <a:spcPts val="0"/>
              </a:spcBef>
              <a:spcAft>
                <a:spcPts val="0"/>
              </a:spcAft>
              <a:buClr>
                <a:srgbClr val="405449"/>
              </a:buClr>
              <a:buSzPts val="1500"/>
              <a:buFont typeface="Consolas"/>
              <a:buNone/>
            </a:pPr>
            <a:r>
              <a:rPr b="0" i="0" lang="en-US" sz="1500" u="none" cap="none" strike="noStrike">
                <a:solidFill>
                  <a:srgbClr val="405449"/>
                </a:solidFill>
                <a:highlight>
                  <a:srgbClr val="EDF2ED"/>
                </a:highlight>
                <a:latin typeface="Consolas"/>
                <a:ea typeface="Consolas"/>
                <a:cs typeface="Consolas"/>
                <a:sym typeface="Consolas"/>
              </a:rPr>
              <a:t>    return (x &lt; 0 or x &gt;= self.screen_width or </a:t>
            </a:r>
            <a:endParaRPr b="0" i="0" sz="1500" u="none" cap="none" strike="noStrike"/>
          </a:p>
          <a:p>
            <a:pPr indent="0" lvl="0" marL="0" marR="0" rtl="0" algn="l">
              <a:lnSpc>
                <a:spcPct val="160000"/>
              </a:lnSpc>
              <a:spcBef>
                <a:spcPts val="0"/>
              </a:spcBef>
              <a:spcAft>
                <a:spcPts val="0"/>
              </a:spcAft>
              <a:buClr>
                <a:srgbClr val="405449"/>
              </a:buClr>
              <a:buSzPts val="1500"/>
              <a:buFont typeface="Consolas"/>
              <a:buNone/>
            </a:pPr>
            <a:r>
              <a:rPr b="0" i="0" lang="en-US" sz="1500" u="none" cap="none" strike="noStrike">
                <a:solidFill>
                  <a:srgbClr val="405449"/>
                </a:solidFill>
                <a:highlight>
                  <a:srgbClr val="EDF2ED"/>
                </a:highlight>
                <a:latin typeface="Consolas"/>
                <a:ea typeface="Consolas"/>
                <a:cs typeface="Consolas"/>
                <a:sym typeface="Consolas"/>
              </a:rPr>
              <a:t>            y &lt; 0 or y &gt;= self.screen_height)</a:t>
            </a:r>
            <a:endParaRPr b="0" i="0" sz="1500" u="none" cap="none" strike="noStrike"/>
          </a:p>
        </p:txBody>
      </p:sp>
      <p:sp>
        <p:nvSpPr>
          <p:cNvPr id="174" name="Google Shape;174;p21"/>
          <p:cNvSpPr/>
          <p:nvPr/>
        </p:nvSpPr>
        <p:spPr>
          <a:xfrm>
            <a:off x="793790" y="7167920"/>
            <a:ext cx="13042821" cy="30837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38951"/>
              </a:buClr>
              <a:buSzPts val="1500"/>
              <a:buFont typeface="Nobile"/>
              <a:buNone/>
            </a:pPr>
            <a:r>
              <a:rPr b="1" i="0" lang="en-US" sz="1500" u="none" cap="none" strike="noStrike">
                <a:solidFill>
                  <a:srgbClr val="438951"/>
                </a:solidFill>
                <a:latin typeface="Nobile"/>
                <a:ea typeface="Nobile"/>
                <a:cs typeface="Nobile"/>
                <a:sym typeface="Nobile"/>
              </a:rPr>
              <a:t>Three validation checks executed every frame</a:t>
            </a:r>
            <a:r>
              <a:rPr b="0" i="0" lang="en-US" sz="1500" u="none" cap="none" strike="noStrike">
                <a:solidFill>
                  <a:srgbClr val="405449"/>
                </a:solidFill>
                <a:latin typeface="Nobile"/>
                <a:ea typeface="Nobile"/>
                <a:cs typeface="Nobile"/>
                <a:sym typeface="Nobile"/>
              </a:rPr>
              <a:t> ensure accurate game state</a:t>
            </a:r>
            <a:endParaRPr b="0" i="0" sz="150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descr="preencoded.png" id="180" name="Google Shape;180;p2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81" name="Google Shape;181;p22"/>
          <p:cNvSpPr/>
          <p:nvPr/>
        </p:nvSpPr>
        <p:spPr>
          <a:xfrm>
            <a:off x="6280201" y="1431349"/>
            <a:ext cx="6689100" cy="119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B4540"/>
              </a:buClr>
              <a:buSzPts val="4000"/>
              <a:buFont typeface="Fraunces"/>
              <a:buNone/>
            </a:pPr>
            <a:r>
              <a:rPr b="1" i="0" lang="en-US" sz="4000" u="none" cap="none" strike="noStrike">
                <a:solidFill>
                  <a:srgbClr val="3B4540"/>
                </a:solidFill>
                <a:latin typeface="Fraunces"/>
                <a:ea typeface="Fraunces"/>
                <a:cs typeface="Fraunces"/>
                <a:sym typeface="Fraunces"/>
              </a:rPr>
              <a:t>Obstacle Spawning</a:t>
            </a:r>
            <a:endParaRPr b="0" i="0" sz="4000" u="none" cap="none" strike="noStrike"/>
          </a:p>
        </p:txBody>
      </p:sp>
      <p:sp>
        <p:nvSpPr>
          <p:cNvPr id="182" name="Google Shape;182;p22"/>
          <p:cNvSpPr/>
          <p:nvPr/>
        </p:nvSpPr>
        <p:spPr>
          <a:xfrm>
            <a:off x="6280190" y="2727127"/>
            <a:ext cx="204073" cy="255151"/>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05449"/>
              </a:buClr>
              <a:buSzPts val="1600"/>
              <a:buFont typeface="Fraunces"/>
              <a:buNone/>
            </a:pPr>
            <a:r>
              <a:rPr b="0" i="0" lang="en-US" sz="1600" u="none" cap="none" strike="noStrike">
                <a:solidFill>
                  <a:srgbClr val="405449"/>
                </a:solidFill>
                <a:latin typeface="Fraunces"/>
                <a:ea typeface="Fraunces"/>
                <a:cs typeface="Fraunces"/>
                <a:sym typeface="Fraunces"/>
              </a:rPr>
              <a:t>1</a:t>
            </a:r>
            <a:endParaRPr b="0" i="0" sz="1600" u="none" cap="none" strike="noStrike"/>
          </a:p>
        </p:txBody>
      </p:sp>
      <p:sp>
        <p:nvSpPr>
          <p:cNvPr id="183" name="Google Shape;183;p22"/>
          <p:cNvSpPr/>
          <p:nvPr/>
        </p:nvSpPr>
        <p:spPr>
          <a:xfrm>
            <a:off x="6280190" y="3051096"/>
            <a:ext cx="3676174" cy="22860"/>
          </a:xfrm>
          <a:prstGeom prst="rect">
            <a:avLst/>
          </a:prstGeom>
          <a:solidFill>
            <a:srgbClr val="4389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2"/>
          <p:cNvSpPr/>
          <p:nvPr/>
        </p:nvSpPr>
        <p:spPr>
          <a:xfrm>
            <a:off x="6280190" y="3198852"/>
            <a:ext cx="2551748"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000"/>
              <a:buFont typeface="Fraunces"/>
              <a:buNone/>
            </a:pPr>
            <a:r>
              <a:rPr b="1" i="0" lang="en-US" sz="2000" u="none" cap="none" strike="noStrike">
                <a:solidFill>
                  <a:srgbClr val="405449"/>
                </a:solidFill>
                <a:latin typeface="Fraunces"/>
                <a:ea typeface="Fraunces"/>
                <a:cs typeface="Fraunces"/>
                <a:sym typeface="Fraunces"/>
              </a:rPr>
              <a:t>Random Position</a:t>
            </a:r>
            <a:endParaRPr b="0" i="0" sz="2000" u="none" cap="none" strike="noStrike"/>
          </a:p>
        </p:txBody>
      </p:sp>
      <p:sp>
        <p:nvSpPr>
          <p:cNvPr id="185" name="Google Shape;185;p22"/>
          <p:cNvSpPr/>
          <p:nvPr/>
        </p:nvSpPr>
        <p:spPr>
          <a:xfrm>
            <a:off x="6280190" y="3640098"/>
            <a:ext cx="3676174" cy="653415"/>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05449"/>
              </a:buClr>
              <a:buSzPts val="1600"/>
              <a:buFont typeface="Nobile"/>
              <a:buNone/>
            </a:pPr>
            <a:r>
              <a:rPr b="0" i="0" lang="en-US" sz="1600" u="none" cap="none" strike="noStrike">
                <a:solidFill>
                  <a:srgbClr val="405449"/>
                </a:solidFill>
                <a:latin typeface="Nobile"/>
                <a:ea typeface="Nobile"/>
                <a:cs typeface="Nobile"/>
                <a:sym typeface="Nobile"/>
              </a:rPr>
              <a:t>Generate X,Y coordinates on 20-pixel grid</a:t>
            </a:r>
            <a:endParaRPr b="0" i="0" sz="1600" u="none" cap="none" strike="noStrike"/>
          </a:p>
        </p:txBody>
      </p:sp>
      <p:sp>
        <p:nvSpPr>
          <p:cNvPr id="186" name="Google Shape;186;p22"/>
          <p:cNvSpPr/>
          <p:nvPr/>
        </p:nvSpPr>
        <p:spPr>
          <a:xfrm>
            <a:off x="10160437" y="2727127"/>
            <a:ext cx="204073" cy="255151"/>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05449"/>
              </a:buClr>
              <a:buSzPts val="1600"/>
              <a:buFont typeface="Fraunces"/>
              <a:buNone/>
            </a:pPr>
            <a:r>
              <a:rPr b="0" i="0" lang="en-US" sz="1600" u="none" cap="none" strike="noStrike">
                <a:solidFill>
                  <a:srgbClr val="405449"/>
                </a:solidFill>
                <a:latin typeface="Fraunces"/>
                <a:ea typeface="Fraunces"/>
                <a:cs typeface="Fraunces"/>
                <a:sym typeface="Fraunces"/>
              </a:rPr>
              <a:t>2</a:t>
            </a:r>
            <a:endParaRPr b="0" i="0" sz="1600" u="none" cap="none" strike="noStrike"/>
          </a:p>
        </p:txBody>
      </p:sp>
      <p:sp>
        <p:nvSpPr>
          <p:cNvPr id="187" name="Google Shape;187;p22"/>
          <p:cNvSpPr/>
          <p:nvPr/>
        </p:nvSpPr>
        <p:spPr>
          <a:xfrm>
            <a:off x="10160437" y="3051096"/>
            <a:ext cx="3676174" cy="22860"/>
          </a:xfrm>
          <a:prstGeom prst="rect">
            <a:avLst/>
          </a:prstGeom>
          <a:solidFill>
            <a:srgbClr val="4389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2"/>
          <p:cNvSpPr/>
          <p:nvPr/>
        </p:nvSpPr>
        <p:spPr>
          <a:xfrm>
            <a:off x="10160425" y="3142775"/>
            <a:ext cx="4470000" cy="497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000"/>
              <a:buFont typeface="Fraunces"/>
              <a:buNone/>
            </a:pPr>
            <a:r>
              <a:rPr b="1" lang="en-US" sz="1600">
                <a:solidFill>
                  <a:srgbClr val="405449"/>
                </a:solidFill>
                <a:latin typeface="Fraunces"/>
                <a:ea typeface="Fraunces"/>
                <a:cs typeface="Fraunces"/>
                <a:sym typeface="Fraunces"/>
              </a:rPr>
              <a:t>D</a:t>
            </a:r>
            <a:r>
              <a:rPr b="1" i="0" lang="en-US" sz="1600" u="none" cap="none" strike="noStrike">
                <a:solidFill>
                  <a:srgbClr val="405449"/>
                </a:solidFill>
                <a:latin typeface="Fraunces"/>
                <a:ea typeface="Fraunces"/>
                <a:cs typeface="Fraunces"/>
                <a:sym typeface="Fraunces"/>
              </a:rPr>
              <a:t>istance Check (i</a:t>
            </a:r>
            <a:r>
              <a:rPr b="1" lang="en-US" sz="1600">
                <a:solidFill>
                  <a:srgbClr val="405449"/>
                </a:solidFill>
                <a:latin typeface="Fraunces"/>
                <a:ea typeface="Fraunces"/>
                <a:cs typeface="Fraunces"/>
                <a:sym typeface="Fraunces"/>
              </a:rPr>
              <a:t>mprovement </a:t>
            </a:r>
            <a:r>
              <a:rPr b="1" lang="en-US" sz="1600">
                <a:solidFill>
                  <a:srgbClr val="405449"/>
                </a:solidFill>
                <a:latin typeface="Fraunces"/>
                <a:ea typeface="Fraunces"/>
                <a:cs typeface="Fraunces"/>
                <a:sym typeface="Fraunces"/>
              </a:rPr>
              <a:t>&amp; debugging</a:t>
            </a:r>
            <a:r>
              <a:rPr b="1" lang="en-US" sz="1600">
                <a:solidFill>
                  <a:srgbClr val="405449"/>
                </a:solidFill>
                <a:latin typeface="Fraunces"/>
                <a:ea typeface="Fraunces"/>
                <a:cs typeface="Fraunces"/>
                <a:sym typeface="Fraunces"/>
              </a:rPr>
              <a:t>)</a:t>
            </a:r>
            <a:endParaRPr b="0" i="0" sz="1600" u="none" cap="none" strike="noStrike"/>
          </a:p>
        </p:txBody>
      </p:sp>
      <p:sp>
        <p:nvSpPr>
          <p:cNvPr id="189" name="Google Shape;189;p22"/>
          <p:cNvSpPr/>
          <p:nvPr/>
        </p:nvSpPr>
        <p:spPr>
          <a:xfrm>
            <a:off x="10160437" y="3640098"/>
            <a:ext cx="3676174" cy="653415"/>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05449"/>
              </a:buClr>
              <a:buSzPts val="1600"/>
              <a:buFont typeface="Nobile"/>
              <a:buNone/>
            </a:pPr>
            <a:r>
              <a:rPr b="0" i="0" lang="en-US" sz="1600" u="none" cap="none" strike="noStrike">
                <a:solidFill>
                  <a:srgbClr val="405449"/>
                </a:solidFill>
                <a:latin typeface="Nobile"/>
                <a:ea typeface="Nobile"/>
                <a:cs typeface="Nobile"/>
                <a:sym typeface="Nobile"/>
              </a:rPr>
              <a:t>Ensure 3-block minimum distance from all snake segments</a:t>
            </a:r>
            <a:endParaRPr b="0" i="0" sz="1600" u="none" cap="none" strike="noStrike"/>
          </a:p>
        </p:txBody>
      </p:sp>
      <p:sp>
        <p:nvSpPr>
          <p:cNvPr id="190" name="Google Shape;190;p22"/>
          <p:cNvSpPr/>
          <p:nvPr/>
        </p:nvSpPr>
        <p:spPr>
          <a:xfrm>
            <a:off x="6280190" y="4650581"/>
            <a:ext cx="204073" cy="255151"/>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05449"/>
              </a:buClr>
              <a:buSzPts val="1600"/>
              <a:buFont typeface="Fraunces"/>
              <a:buNone/>
            </a:pPr>
            <a:r>
              <a:rPr b="0" i="0" lang="en-US" sz="1600" u="none" cap="none" strike="noStrike">
                <a:solidFill>
                  <a:srgbClr val="405449"/>
                </a:solidFill>
                <a:latin typeface="Fraunces"/>
                <a:ea typeface="Fraunces"/>
                <a:cs typeface="Fraunces"/>
                <a:sym typeface="Fraunces"/>
              </a:rPr>
              <a:t>3</a:t>
            </a:r>
            <a:endParaRPr b="0" i="0" sz="1600" u="none" cap="none" strike="noStrike"/>
          </a:p>
        </p:txBody>
      </p:sp>
      <p:sp>
        <p:nvSpPr>
          <p:cNvPr id="191" name="Google Shape;191;p22"/>
          <p:cNvSpPr/>
          <p:nvPr/>
        </p:nvSpPr>
        <p:spPr>
          <a:xfrm>
            <a:off x="6280190" y="4974550"/>
            <a:ext cx="7556421" cy="22860"/>
          </a:xfrm>
          <a:prstGeom prst="rect">
            <a:avLst/>
          </a:prstGeom>
          <a:solidFill>
            <a:srgbClr val="4389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2"/>
          <p:cNvSpPr/>
          <p:nvPr/>
        </p:nvSpPr>
        <p:spPr>
          <a:xfrm>
            <a:off x="6280190" y="5122307"/>
            <a:ext cx="2551748"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000"/>
              <a:buFont typeface="Fraunces"/>
              <a:buNone/>
            </a:pPr>
            <a:r>
              <a:rPr b="1" i="0" lang="en-US" sz="2000" u="none" cap="none" strike="noStrike">
                <a:solidFill>
                  <a:srgbClr val="405449"/>
                </a:solidFill>
                <a:latin typeface="Fraunces"/>
                <a:ea typeface="Fraunces"/>
                <a:cs typeface="Fraunces"/>
                <a:sym typeface="Fraunces"/>
              </a:rPr>
              <a:t>Validate &amp; Place</a:t>
            </a:r>
            <a:endParaRPr b="0" i="0" sz="2000" u="none" cap="none" strike="noStrike"/>
          </a:p>
        </p:txBody>
      </p:sp>
      <p:sp>
        <p:nvSpPr>
          <p:cNvPr id="193" name="Google Shape;193;p22"/>
          <p:cNvSpPr/>
          <p:nvPr/>
        </p:nvSpPr>
        <p:spPr>
          <a:xfrm>
            <a:off x="6280190" y="5563553"/>
            <a:ext cx="7556421" cy="3267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05449"/>
              </a:buClr>
              <a:buSzPts val="1600"/>
              <a:buFont typeface="Nobile"/>
              <a:buNone/>
            </a:pPr>
            <a:r>
              <a:rPr b="0" i="0" lang="en-US" sz="1600" u="none" cap="none" strike="noStrike">
                <a:solidFill>
                  <a:srgbClr val="405449"/>
                </a:solidFill>
                <a:latin typeface="Nobile"/>
                <a:ea typeface="Nobile"/>
                <a:cs typeface="Nobile"/>
                <a:sym typeface="Nobile"/>
              </a:rPr>
              <a:t>Confirm no overlap with snake or food, then add obstacle</a:t>
            </a:r>
            <a:endParaRPr b="0" i="0" sz="1600" u="none" cap="none" strike="noStrike"/>
          </a:p>
        </p:txBody>
      </p:sp>
      <p:sp>
        <p:nvSpPr>
          <p:cNvPr id="194" name="Google Shape;194;p22"/>
          <p:cNvSpPr/>
          <p:nvPr/>
        </p:nvSpPr>
        <p:spPr>
          <a:xfrm>
            <a:off x="6280190" y="6272808"/>
            <a:ext cx="7556421" cy="1194197"/>
          </a:xfrm>
          <a:prstGeom prst="roundRect">
            <a:avLst>
              <a:gd fmla="val 15385" name="adj"/>
            </a:avLst>
          </a:prstGeom>
          <a:solidFill>
            <a:srgbClr val="CCE6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5" name="Google Shape;195;p22"/>
          <p:cNvPicPr preferRelativeResize="0"/>
          <p:nvPr/>
        </p:nvPicPr>
        <p:blipFill rotWithShape="1">
          <a:blip r:embed="rId4">
            <a:alphaModFix/>
          </a:blip>
          <a:srcRect b="0" l="0" r="0" t="0"/>
          <a:stretch/>
        </p:blipFill>
        <p:spPr>
          <a:xfrm>
            <a:off x="6484263" y="6562606"/>
            <a:ext cx="255151" cy="204073"/>
          </a:xfrm>
          <a:prstGeom prst="rect">
            <a:avLst/>
          </a:prstGeom>
          <a:noFill/>
          <a:ln>
            <a:noFill/>
          </a:ln>
        </p:spPr>
      </p:pic>
      <p:sp>
        <p:nvSpPr>
          <p:cNvPr id="196" name="Google Shape;196;p22"/>
          <p:cNvSpPr/>
          <p:nvPr/>
        </p:nvSpPr>
        <p:spPr>
          <a:xfrm>
            <a:off x="6943487" y="6527840"/>
            <a:ext cx="6689050" cy="653415"/>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000000"/>
              </a:buClr>
              <a:buSzPts val="1600"/>
              <a:buFont typeface="Nobile"/>
              <a:buNone/>
            </a:pPr>
            <a:r>
              <a:rPr b="1" i="0" lang="en-US" sz="1600" u="none" cap="none" strike="noStrike">
                <a:solidFill>
                  <a:srgbClr val="000000"/>
                </a:solidFill>
                <a:latin typeface="Nobile"/>
                <a:ea typeface="Nobile"/>
                <a:cs typeface="Nobile"/>
                <a:sym typeface="Nobile"/>
              </a:rPr>
              <a:t>SAFE_DISTANCE = 3 blocks</a:t>
            </a:r>
            <a:r>
              <a:rPr b="0" i="0" lang="en-US" sz="1600" u="none" cap="none" strike="noStrike">
                <a:solidFill>
                  <a:srgbClr val="000000"/>
                </a:solidFill>
                <a:latin typeface="Nobile"/>
                <a:ea typeface="Nobile"/>
                <a:cs typeface="Nobile"/>
                <a:sym typeface="Nobile"/>
              </a:rPr>
              <a:t> prevents unfair spawns that trap the player</a:t>
            </a:r>
            <a:endParaRPr b="0" i="0" sz="16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p:nvPr/>
        </p:nvSpPr>
        <p:spPr>
          <a:xfrm>
            <a:off x="793811" y="753300"/>
            <a:ext cx="13564500" cy="602400"/>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3B4540"/>
              </a:buClr>
              <a:buSzPts val="3750"/>
              <a:buFont typeface="Fraunces"/>
              <a:buNone/>
            </a:pPr>
            <a:r>
              <a:rPr b="1" lang="en-US" sz="3750">
                <a:solidFill>
                  <a:srgbClr val="3B4540"/>
                </a:solidFill>
                <a:latin typeface="Fraunces"/>
                <a:ea typeface="Fraunces"/>
                <a:cs typeface="Fraunces"/>
                <a:sym typeface="Fraunces"/>
              </a:rPr>
              <a:t> Aesthetic Features We Added to Enhance the Game</a:t>
            </a:r>
            <a:endParaRPr b="0" i="0" sz="3750" u="none" cap="none" strike="noStrike"/>
          </a:p>
        </p:txBody>
      </p:sp>
      <p:pic>
        <p:nvPicPr>
          <p:cNvPr descr="preencoded.png" id="203" name="Google Shape;203;p23"/>
          <p:cNvPicPr preferRelativeResize="0"/>
          <p:nvPr/>
        </p:nvPicPr>
        <p:blipFill rotWithShape="1">
          <a:blip r:embed="rId3">
            <a:alphaModFix/>
          </a:blip>
          <a:srcRect b="0" l="0" r="0" t="0"/>
          <a:stretch/>
        </p:blipFill>
        <p:spPr>
          <a:xfrm>
            <a:off x="793790" y="1741289"/>
            <a:ext cx="963930" cy="1156811"/>
          </a:xfrm>
          <a:prstGeom prst="rect">
            <a:avLst/>
          </a:prstGeom>
          <a:noFill/>
          <a:ln>
            <a:noFill/>
          </a:ln>
        </p:spPr>
      </p:pic>
      <p:sp>
        <p:nvSpPr>
          <p:cNvPr id="204" name="Google Shape;204;p23"/>
          <p:cNvSpPr/>
          <p:nvPr/>
        </p:nvSpPr>
        <p:spPr>
          <a:xfrm>
            <a:off x="1950472" y="1702700"/>
            <a:ext cx="3420000" cy="30120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05449"/>
              </a:buClr>
              <a:buSzPts val="1850"/>
              <a:buFont typeface="Fraunces"/>
              <a:buNone/>
            </a:pPr>
            <a:r>
              <a:rPr b="1" lang="en-US" sz="1850">
                <a:solidFill>
                  <a:srgbClr val="405449"/>
                </a:solidFill>
                <a:latin typeface="Fraunces"/>
                <a:ea typeface="Fraunces"/>
                <a:cs typeface="Fraunces"/>
                <a:sym typeface="Fraunces"/>
              </a:rPr>
              <a:t>Snake features (Eyes)</a:t>
            </a:r>
            <a:endParaRPr b="0" i="0" sz="1850" u="none" cap="none" strike="noStrike"/>
          </a:p>
        </p:txBody>
      </p:sp>
      <p:sp>
        <p:nvSpPr>
          <p:cNvPr id="205" name="Google Shape;205;p23"/>
          <p:cNvSpPr/>
          <p:nvPr/>
        </p:nvSpPr>
        <p:spPr>
          <a:xfrm>
            <a:off x="1887282" y="2069077"/>
            <a:ext cx="11886000" cy="308400"/>
          </a:xfrm>
          <a:prstGeom prst="rect">
            <a:avLst/>
          </a:prstGeom>
          <a:noFill/>
          <a:ln>
            <a:noFill/>
          </a:ln>
        </p:spPr>
        <p:txBody>
          <a:bodyPr anchorCtr="0" anchor="t" bIns="0" lIns="0" spcFirstLastPara="1" rIns="0" wrap="square" tIns="0">
            <a:noAutofit/>
          </a:bodyPr>
          <a:lstStyle/>
          <a:p>
            <a:pPr indent="-298450" lvl="0" marL="457200" rtl="0" algn="l">
              <a:lnSpc>
                <a:spcPct val="160000"/>
              </a:lnSpc>
              <a:spcBef>
                <a:spcPts val="0"/>
              </a:spcBef>
              <a:spcAft>
                <a:spcPts val="0"/>
              </a:spcAft>
              <a:buSzPts val="1100"/>
              <a:buFont typeface="Georgia"/>
              <a:buChar char="●"/>
            </a:pPr>
            <a:r>
              <a:rPr lang="en-US" sz="1100">
                <a:latin typeface="Georgia"/>
                <a:ea typeface="Georgia"/>
                <a:cs typeface="Georgia"/>
                <a:sym typeface="Georgia"/>
              </a:rPr>
              <a:t>Added two small circles inside the snake’s head.</a:t>
            </a:r>
            <a:endParaRPr sz="1100">
              <a:latin typeface="Georgia"/>
              <a:ea typeface="Georgia"/>
              <a:cs typeface="Georgia"/>
              <a:sym typeface="Georgia"/>
            </a:endParaRPr>
          </a:p>
          <a:p>
            <a:pPr indent="-298450" lvl="0" marL="457200" rtl="0" algn="l">
              <a:lnSpc>
                <a:spcPct val="160000"/>
              </a:lnSpc>
              <a:spcBef>
                <a:spcPts val="0"/>
              </a:spcBef>
              <a:spcAft>
                <a:spcPts val="0"/>
              </a:spcAft>
              <a:buSzPts val="1100"/>
              <a:buFont typeface="Georgia"/>
              <a:buChar char="●"/>
            </a:pPr>
            <a:r>
              <a:rPr lang="en-US" sz="1100">
                <a:latin typeface="Georgia"/>
                <a:ea typeface="Georgia"/>
                <a:cs typeface="Georgia"/>
                <a:sym typeface="Georgia"/>
              </a:rPr>
              <a:t>Implemented using simple coordinates and the drawing function already used for the snake blocks.</a:t>
            </a:r>
            <a:endParaRPr sz="1100">
              <a:latin typeface="Georgia"/>
              <a:ea typeface="Georgia"/>
              <a:cs typeface="Georgia"/>
              <a:sym typeface="Georgia"/>
            </a:endParaRPr>
          </a:p>
          <a:p>
            <a:pPr indent="-298450" lvl="0" marL="457200" rtl="0" algn="l">
              <a:lnSpc>
                <a:spcPct val="160000"/>
              </a:lnSpc>
              <a:spcBef>
                <a:spcPts val="0"/>
              </a:spcBef>
              <a:spcAft>
                <a:spcPts val="0"/>
              </a:spcAft>
              <a:buSzPts val="1100"/>
              <a:buFont typeface="Georgia"/>
              <a:buChar char="●"/>
            </a:pPr>
            <a:r>
              <a:rPr lang="en-US" sz="1100">
                <a:latin typeface="Georgia"/>
                <a:ea typeface="Georgia"/>
                <a:cs typeface="Georgia"/>
                <a:sym typeface="Georgia"/>
              </a:rPr>
              <a:t>The eyes update automatically as the snake moves.</a:t>
            </a:r>
            <a:endParaRPr sz="1100">
              <a:latin typeface="Georgia"/>
              <a:ea typeface="Georgia"/>
              <a:cs typeface="Georgia"/>
              <a:sym typeface="Georgia"/>
            </a:endParaRPr>
          </a:p>
          <a:p>
            <a:pPr indent="0" lvl="0" marL="0" marR="0" rtl="0" algn="l">
              <a:lnSpc>
                <a:spcPct val="160000"/>
              </a:lnSpc>
              <a:spcBef>
                <a:spcPts val="0"/>
              </a:spcBef>
              <a:spcAft>
                <a:spcPts val="0"/>
              </a:spcAft>
              <a:buClr>
                <a:srgbClr val="405449"/>
              </a:buClr>
              <a:buSzPts val="1500"/>
              <a:buFont typeface="Nobile"/>
              <a:buNone/>
            </a:pPr>
            <a:r>
              <a:t/>
            </a:r>
            <a:endParaRPr sz="1500"/>
          </a:p>
        </p:txBody>
      </p:sp>
      <p:pic>
        <p:nvPicPr>
          <p:cNvPr descr="preencoded.png" id="206" name="Google Shape;206;p23"/>
          <p:cNvPicPr preferRelativeResize="0"/>
          <p:nvPr/>
        </p:nvPicPr>
        <p:blipFill rotWithShape="1">
          <a:blip r:embed="rId4">
            <a:alphaModFix/>
          </a:blip>
          <a:srcRect b="0" l="0" r="0" t="0"/>
          <a:stretch/>
        </p:blipFill>
        <p:spPr>
          <a:xfrm>
            <a:off x="793790" y="2898100"/>
            <a:ext cx="963930" cy="1156811"/>
          </a:xfrm>
          <a:prstGeom prst="rect">
            <a:avLst/>
          </a:prstGeom>
          <a:noFill/>
          <a:ln>
            <a:noFill/>
          </a:ln>
        </p:spPr>
      </p:pic>
      <p:sp>
        <p:nvSpPr>
          <p:cNvPr id="207" name="Google Shape;207;p23"/>
          <p:cNvSpPr/>
          <p:nvPr/>
        </p:nvSpPr>
        <p:spPr>
          <a:xfrm>
            <a:off x="1950468" y="3090875"/>
            <a:ext cx="4920600" cy="30120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05449"/>
              </a:buClr>
              <a:buSzPts val="1850"/>
              <a:buFont typeface="Fraunces"/>
              <a:buNone/>
            </a:pPr>
            <a:r>
              <a:rPr b="1" lang="en-US" sz="1850">
                <a:solidFill>
                  <a:srgbClr val="405449"/>
                </a:solidFill>
                <a:latin typeface="Fraunces"/>
                <a:ea typeface="Fraunces"/>
                <a:cs typeface="Fraunces"/>
                <a:sym typeface="Fraunces"/>
              </a:rPr>
              <a:t>Custom Apple Design</a:t>
            </a:r>
            <a:endParaRPr b="0" i="0" sz="1850" u="none" cap="none" strike="noStrike"/>
          </a:p>
        </p:txBody>
      </p:sp>
      <p:sp>
        <p:nvSpPr>
          <p:cNvPr id="208" name="Google Shape;208;p23"/>
          <p:cNvSpPr/>
          <p:nvPr/>
        </p:nvSpPr>
        <p:spPr>
          <a:xfrm>
            <a:off x="1950482" y="3507700"/>
            <a:ext cx="11886000" cy="308400"/>
          </a:xfrm>
          <a:prstGeom prst="rect">
            <a:avLst/>
          </a:prstGeom>
          <a:noFill/>
          <a:ln>
            <a:noFill/>
          </a:ln>
        </p:spPr>
        <p:txBody>
          <a:bodyPr anchorCtr="0" anchor="t" bIns="0" lIns="0" spcFirstLastPara="1" rIns="0" wrap="square" tIns="0">
            <a:noAutofit/>
          </a:bodyPr>
          <a:lstStyle/>
          <a:p>
            <a:pPr indent="-298450" lvl="0" marL="457200" rtl="0" algn="l">
              <a:lnSpc>
                <a:spcPct val="160000"/>
              </a:lnSpc>
              <a:spcBef>
                <a:spcPts val="0"/>
              </a:spcBef>
              <a:spcAft>
                <a:spcPts val="0"/>
              </a:spcAft>
              <a:buClr>
                <a:srgbClr val="405449"/>
              </a:buClr>
              <a:buSzPts val="1100"/>
              <a:buFont typeface="Georgia"/>
              <a:buChar char="●"/>
            </a:pPr>
            <a:r>
              <a:rPr lang="en-US" sz="1100">
                <a:solidFill>
                  <a:srgbClr val="405449"/>
                </a:solidFill>
                <a:latin typeface="Georgia"/>
                <a:ea typeface="Georgia"/>
                <a:cs typeface="Georgia"/>
                <a:sym typeface="Georgia"/>
              </a:rPr>
              <a:t>Changed the apple from a plain red block to a circular fruit shape, with stem. </a:t>
            </a:r>
            <a:endParaRPr sz="1100">
              <a:solidFill>
                <a:srgbClr val="405449"/>
              </a:solidFill>
              <a:latin typeface="Georgia"/>
              <a:ea typeface="Georgia"/>
              <a:cs typeface="Georgia"/>
              <a:sym typeface="Georgia"/>
            </a:endParaRPr>
          </a:p>
          <a:p>
            <a:pPr indent="-298450" lvl="0" marL="457200" rtl="0" algn="l">
              <a:lnSpc>
                <a:spcPct val="160000"/>
              </a:lnSpc>
              <a:spcBef>
                <a:spcPts val="0"/>
              </a:spcBef>
              <a:spcAft>
                <a:spcPts val="0"/>
              </a:spcAft>
              <a:buClr>
                <a:srgbClr val="405449"/>
              </a:buClr>
              <a:buSzPts val="1100"/>
              <a:buFont typeface="Georgia"/>
              <a:buChar char="●"/>
            </a:pPr>
            <a:r>
              <a:rPr lang="en-US" sz="1100">
                <a:solidFill>
                  <a:srgbClr val="405449"/>
                </a:solidFill>
                <a:latin typeface="Georgia"/>
                <a:ea typeface="Georgia"/>
                <a:cs typeface="Georgia"/>
                <a:sym typeface="Georgia"/>
              </a:rPr>
              <a:t>Used a different drawing function and a distinct RGB color to make it stand out.</a:t>
            </a:r>
            <a:endParaRPr sz="1100">
              <a:solidFill>
                <a:srgbClr val="405449"/>
              </a:solidFill>
              <a:latin typeface="Georgia"/>
              <a:ea typeface="Georgia"/>
              <a:cs typeface="Georgia"/>
              <a:sym typeface="Georgia"/>
            </a:endParaRPr>
          </a:p>
        </p:txBody>
      </p:sp>
      <p:sp>
        <p:nvSpPr>
          <p:cNvPr id="209" name="Google Shape;209;p23"/>
          <p:cNvSpPr/>
          <p:nvPr/>
        </p:nvSpPr>
        <p:spPr>
          <a:xfrm>
            <a:off x="1950482" y="4247674"/>
            <a:ext cx="2409900" cy="30120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05449"/>
              </a:buClr>
              <a:buSzPts val="1850"/>
              <a:buFont typeface="Fraunces"/>
              <a:buNone/>
            </a:pPr>
            <a:r>
              <a:rPr b="1" lang="en-US" sz="1850">
                <a:solidFill>
                  <a:srgbClr val="405449"/>
                </a:solidFill>
                <a:latin typeface="Fraunces"/>
                <a:ea typeface="Fraunces"/>
                <a:cs typeface="Fraunces"/>
                <a:sym typeface="Fraunces"/>
              </a:rPr>
              <a:t>Background Music</a:t>
            </a:r>
            <a:endParaRPr b="0" i="0" sz="1850" u="none" cap="none" strike="noStrike"/>
          </a:p>
        </p:txBody>
      </p:sp>
      <p:sp>
        <p:nvSpPr>
          <p:cNvPr id="210" name="Google Shape;210;p23"/>
          <p:cNvSpPr/>
          <p:nvPr/>
        </p:nvSpPr>
        <p:spPr>
          <a:xfrm>
            <a:off x="1950482" y="4618500"/>
            <a:ext cx="11886000" cy="308400"/>
          </a:xfrm>
          <a:prstGeom prst="rect">
            <a:avLst/>
          </a:prstGeom>
          <a:noFill/>
          <a:ln>
            <a:noFill/>
          </a:ln>
        </p:spPr>
        <p:txBody>
          <a:bodyPr anchorCtr="0" anchor="t" bIns="0" lIns="0" spcFirstLastPara="1" rIns="0" wrap="square" tIns="0">
            <a:noAutofit/>
          </a:bodyPr>
          <a:lstStyle/>
          <a:p>
            <a:pPr indent="-298450" lvl="0" marL="457200" rtl="0" algn="l">
              <a:lnSpc>
                <a:spcPct val="160000"/>
              </a:lnSpc>
              <a:spcBef>
                <a:spcPts val="0"/>
              </a:spcBef>
              <a:spcAft>
                <a:spcPts val="0"/>
              </a:spcAft>
              <a:buSzPts val="1100"/>
              <a:buChar char="●"/>
            </a:pPr>
            <a:r>
              <a:rPr lang="en-US" sz="1100">
                <a:solidFill>
                  <a:schemeClr val="dk1"/>
                </a:solidFill>
                <a:latin typeface="Georgia"/>
                <a:ea typeface="Georgia"/>
                <a:cs typeface="Georgia"/>
                <a:sym typeface="Georgia"/>
              </a:rPr>
              <a:t>Loaded a sound file using the game’s audio library (e.g., </a:t>
            </a:r>
            <a:r>
              <a:rPr lang="en-US" sz="1100">
                <a:solidFill>
                  <a:srgbClr val="188038"/>
                </a:solidFill>
                <a:latin typeface="Georgia"/>
                <a:ea typeface="Georgia"/>
                <a:cs typeface="Georgia"/>
                <a:sym typeface="Georgia"/>
              </a:rPr>
              <a:t>pygame.mixer</a:t>
            </a:r>
            <a:r>
              <a:rPr lang="en-US" sz="1100">
                <a:solidFill>
                  <a:schemeClr val="dk1"/>
                </a:solidFill>
                <a:latin typeface="Georgia"/>
                <a:ea typeface="Georgia"/>
                <a:cs typeface="Georgia"/>
                <a:sym typeface="Georgia"/>
              </a:rPr>
              <a:t>)</a:t>
            </a:r>
            <a:endParaRPr sz="1100">
              <a:solidFill>
                <a:schemeClr val="dk1"/>
              </a:solidFill>
              <a:latin typeface="Georgia"/>
              <a:ea typeface="Georgia"/>
              <a:cs typeface="Georgia"/>
              <a:sym typeface="Georgia"/>
            </a:endParaRPr>
          </a:p>
          <a:p>
            <a:pPr indent="-298450" lvl="0" marL="457200" rtl="0" algn="l">
              <a:lnSpc>
                <a:spcPct val="160000"/>
              </a:lnSpc>
              <a:spcBef>
                <a:spcPts val="0"/>
              </a:spcBef>
              <a:spcAft>
                <a:spcPts val="0"/>
              </a:spcAft>
              <a:buSzPts val="1100"/>
              <a:buChar char="●"/>
            </a:pPr>
            <a:r>
              <a:rPr lang="en-US" sz="1100">
                <a:solidFill>
                  <a:schemeClr val="dk1"/>
                </a:solidFill>
                <a:latin typeface="Georgia"/>
                <a:ea typeface="Georgia"/>
                <a:cs typeface="Georgia"/>
                <a:sym typeface="Georgia"/>
              </a:rPr>
              <a:t>Used </a:t>
            </a:r>
            <a:r>
              <a:rPr lang="en-US" sz="1100">
                <a:solidFill>
                  <a:srgbClr val="188038"/>
                </a:solidFill>
                <a:latin typeface="Georgia"/>
                <a:ea typeface="Georgia"/>
                <a:cs typeface="Georgia"/>
                <a:sym typeface="Georgia"/>
              </a:rPr>
              <a:t>mixer.music.load()</a:t>
            </a:r>
            <a:r>
              <a:rPr lang="en-US" sz="1100">
                <a:solidFill>
                  <a:schemeClr val="dk1"/>
                </a:solidFill>
                <a:latin typeface="Georgia"/>
                <a:ea typeface="Georgia"/>
                <a:cs typeface="Georgia"/>
                <a:sym typeface="Georgia"/>
              </a:rPr>
              <a:t> and </a:t>
            </a:r>
            <a:r>
              <a:rPr lang="en-US" sz="1100">
                <a:solidFill>
                  <a:srgbClr val="188038"/>
                </a:solidFill>
                <a:latin typeface="Georgia"/>
                <a:ea typeface="Georgia"/>
                <a:cs typeface="Georgia"/>
                <a:sym typeface="Georgia"/>
              </a:rPr>
              <a:t>mixer.music.play(-1)</a:t>
            </a:r>
            <a:r>
              <a:rPr lang="en-US" sz="1100">
                <a:solidFill>
                  <a:schemeClr val="dk1"/>
                </a:solidFill>
                <a:latin typeface="Georgia"/>
                <a:ea typeface="Georgia"/>
                <a:cs typeface="Georgia"/>
                <a:sym typeface="Georgia"/>
              </a:rPr>
              <a:t> to loop music continuously..</a:t>
            </a:r>
            <a:endParaRPr sz="1100">
              <a:solidFill>
                <a:schemeClr val="dk1"/>
              </a:solidFill>
              <a:latin typeface="Georgia"/>
              <a:ea typeface="Georgia"/>
              <a:cs typeface="Georgia"/>
              <a:sym typeface="Georgia"/>
            </a:endParaRPr>
          </a:p>
          <a:p>
            <a:pPr indent="0" lvl="0" marL="457200" rtl="0" algn="l">
              <a:lnSpc>
                <a:spcPct val="160000"/>
              </a:lnSpc>
              <a:spcBef>
                <a:spcPts val="0"/>
              </a:spcBef>
              <a:spcAft>
                <a:spcPts val="0"/>
              </a:spcAft>
              <a:buNone/>
            </a:pPr>
            <a:r>
              <a:t/>
            </a:r>
            <a:endParaRPr sz="1100">
              <a:solidFill>
                <a:schemeClr val="dk1"/>
              </a:solidFill>
              <a:latin typeface="Georgia"/>
              <a:ea typeface="Georgia"/>
              <a:cs typeface="Georgia"/>
              <a:sym typeface="Georgia"/>
            </a:endParaRPr>
          </a:p>
          <a:p>
            <a:pPr indent="0" lvl="0" marL="0" rtl="0" algn="l">
              <a:lnSpc>
                <a:spcPct val="127027"/>
              </a:lnSpc>
              <a:spcBef>
                <a:spcPts val="0"/>
              </a:spcBef>
              <a:spcAft>
                <a:spcPts val="0"/>
              </a:spcAft>
              <a:buNone/>
            </a:pPr>
            <a:r>
              <a:rPr b="1" lang="en-US" sz="1850">
                <a:solidFill>
                  <a:srgbClr val="405449"/>
                </a:solidFill>
                <a:latin typeface="Fraunces"/>
                <a:ea typeface="Fraunces"/>
                <a:cs typeface="Fraunces"/>
                <a:sym typeface="Fraunces"/>
              </a:rPr>
              <a:t>Background Design</a:t>
            </a:r>
            <a:endParaRPr sz="1100">
              <a:solidFill>
                <a:srgbClr val="405449"/>
              </a:solidFill>
              <a:latin typeface="Nobile"/>
              <a:ea typeface="Nobile"/>
              <a:cs typeface="Nobile"/>
              <a:sym typeface="Nobile"/>
            </a:endParaRPr>
          </a:p>
        </p:txBody>
      </p:sp>
      <p:sp>
        <p:nvSpPr>
          <p:cNvPr id="211" name="Google Shape;211;p23"/>
          <p:cNvSpPr/>
          <p:nvPr/>
        </p:nvSpPr>
        <p:spPr>
          <a:xfrm>
            <a:off x="793790" y="7167920"/>
            <a:ext cx="13042800" cy="3084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38951"/>
              </a:buClr>
              <a:buSzPts val="1500"/>
              <a:buFont typeface="Nobile"/>
              <a:buNone/>
            </a:pPr>
            <a:r>
              <a:t/>
            </a:r>
            <a:endParaRPr b="0" i="0" sz="1500" u="none" cap="none" strike="noStrike"/>
          </a:p>
        </p:txBody>
      </p:sp>
      <p:pic>
        <p:nvPicPr>
          <p:cNvPr descr="preencoded.png" id="212" name="Google Shape;212;p23"/>
          <p:cNvPicPr preferRelativeResize="0"/>
          <p:nvPr/>
        </p:nvPicPr>
        <p:blipFill rotWithShape="1">
          <a:blip r:embed="rId3">
            <a:alphaModFix/>
          </a:blip>
          <a:srcRect b="0" l="0" r="0" t="0"/>
          <a:stretch/>
        </p:blipFill>
        <p:spPr>
          <a:xfrm>
            <a:off x="793790" y="5384564"/>
            <a:ext cx="963930" cy="1156811"/>
          </a:xfrm>
          <a:prstGeom prst="rect">
            <a:avLst/>
          </a:prstGeom>
          <a:noFill/>
          <a:ln>
            <a:noFill/>
          </a:ln>
        </p:spPr>
      </p:pic>
      <p:pic>
        <p:nvPicPr>
          <p:cNvPr descr="preencoded.png" id="213" name="Google Shape;213;p23"/>
          <p:cNvPicPr preferRelativeResize="0"/>
          <p:nvPr/>
        </p:nvPicPr>
        <p:blipFill rotWithShape="1">
          <a:blip r:embed="rId3">
            <a:alphaModFix/>
          </a:blip>
          <a:srcRect b="0" l="0" r="0" t="0"/>
          <a:stretch/>
        </p:blipFill>
        <p:spPr>
          <a:xfrm>
            <a:off x="793790" y="6743714"/>
            <a:ext cx="963930" cy="1156811"/>
          </a:xfrm>
          <a:prstGeom prst="rect">
            <a:avLst/>
          </a:prstGeom>
          <a:noFill/>
          <a:ln>
            <a:noFill/>
          </a:ln>
        </p:spPr>
      </p:pic>
      <p:sp>
        <p:nvSpPr>
          <p:cNvPr id="214" name="Google Shape;214;p23"/>
          <p:cNvSpPr txBox="1"/>
          <p:nvPr/>
        </p:nvSpPr>
        <p:spPr>
          <a:xfrm>
            <a:off x="1757725" y="5773050"/>
            <a:ext cx="11886000" cy="5487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Font typeface="Georgia"/>
              <a:buChar char="●"/>
            </a:pPr>
            <a:r>
              <a:rPr lang="en-US" sz="1100">
                <a:solidFill>
                  <a:schemeClr val="dk1"/>
                </a:solidFill>
                <a:latin typeface="Georgia"/>
                <a:ea typeface="Georgia"/>
                <a:cs typeface="Georgia"/>
                <a:sym typeface="Georgia"/>
              </a:rPr>
              <a:t>Modified the game window background to get the predefined green background of the original game</a:t>
            </a:r>
            <a:endParaRPr sz="1100">
              <a:solidFill>
                <a:schemeClr val="dk1"/>
              </a:solidFill>
              <a:latin typeface="Georgia"/>
              <a:ea typeface="Georgia"/>
              <a:cs typeface="Georgia"/>
              <a:sym typeface="Georgia"/>
            </a:endParaRPr>
          </a:p>
          <a:p>
            <a:pPr indent="-298450" lvl="0" marL="457200" rtl="0" algn="l">
              <a:lnSpc>
                <a:spcPct val="115000"/>
              </a:lnSpc>
              <a:spcBef>
                <a:spcPts val="0"/>
              </a:spcBef>
              <a:spcAft>
                <a:spcPts val="0"/>
              </a:spcAft>
              <a:buClr>
                <a:schemeClr val="dk1"/>
              </a:buClr>
              <a:buSzPts val="1100"/>
              <a:buFont typeface="Georgia"/>
              <a:buChar char="●"/>
            </a:pPr>
            <a:r>
              <a:rPr lang="en-US" sz="1100">
                <a:solidFill>
                  <a:schemeClr val="dk1"/>
                </a:solidFill>
                <a:latin typeface="Georgia"/>
                <a:ea typeface="Georgia"/>
                <a:cs typeface="Georgia"/>
                <a:sym typeface="Georgia"/>
              </a:rPr>
              <a:t>After user feedback we modified the welcome page  </a:t>
            </a:r>
            <a:r>
              <a:rPr lang="en-US" sz="1100">
                <a:solidFill>
                  <a:schemeClr val="dk1"/>
                </a:solidFill>
                <a:latin typeface="Georgia"/>
                <a:ea typeface="Georgia"/>
                <a:cs typeface="Georgia"/>
                <a:sym typeface="Georgia"/>
              </a:rPr>
              <a:t>screen</a:t>
            </a:r>
            <a:r>
              <a:rPr lang="en-US" sz="1100">
                <a:solidFill>
                  <a:schemeClr val="dk1"/>
                </a:solidFill>
                <a:latin typeface="Georgia"/>
                <a:ea typeface="Georgia"/>
                <a:cs typeface="Georgia"/>
                <a:sym typeface="Georgia"/>
              </a:rPr>
              <a:t> background to be simple and professional </a:t>
            </a:r>
            <a:endParaRPr sz="1100">
              <a:solidFill>
                <a:schemeClr val="dk1"/>
              </a:solidFill>
              <a:latin typeface="Georgia"/>
              <a:ea typeface="Georgia"/>
              <a:cs typeface="Georgia"/>
              <a:sym typeface="Georgia"/>
            </a:endParaRPr>
          </a:p>
        </p:txBody>
      </p:sp>
      <p:sp>
        <p:nvSpPr>
          <p:cNvPr id="215" name="Google Shape;215;p23"/>
          <p:cNvSpPr txBox="1"/>
          <p:nvPr/>
        </p:nvSpPr>
        <p:spPr>
          <a:xfrm>
            <a:off x="1887275" y="6556375"/>
            <a:ext cx="9675300" cy="89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sz="1100">
              <a:solidFill>
                <a:schemeClr val="dk1"/>
              </a:solidFill>
              <a:latin typeface="Georgia"/>
              <a:ea typeface="Georgia"/>
              <a:cs typeface="Georgia"/>
              <a:sym typeface="Georgia"/>
            </a:endParaRPr>
          </a:p>
          <a:p>
            <a:pPr indent="-298450" lvl="0" marL="457200" rtl="0" algn="l">
              <a:lnSpc>
                <a:spcPct val="115000"/>
              </a:lnSpc>
              <a:spcBef>
                <a:spcPts val="1200"/>
              </a:spcBef>
              <a:spcAft>
                <a:spcPts val="0"/>
              </a:spcAft>
              <a:buClr>
                <a:schemeClr val="dk1"/>
              </a:buClr>
              <a:buSzPts val="1100"/>
              <a:buFont typeface="Georgia"/>
              <a:buChar char="●"/>
            </a:pPr>
            <a:r>
              <a:rPr lang="en-US" sz="1100">
                <a:solidFill>
                  <a:schemeClr val="dk1"/>
                </a:solidFill>
                <a:latin typeface="Georgia"/>
                <a:ea typeface="Georgia"/>
                <a:cs typeface="Georgia"/>
                <a:sym typeface="Georgia"/>
              </a:rPr>
              <a:t>Adjusted block size and movement speed for smoother gameplay.</a:t>
            </a:r>
            <a:endParaRPr sz="1100">
              <a:solidFill>
                <a:schemeClr val="dk1"/>
              </a:solidFill>
              <a:latin typeface="Georgia"/>
              <a:ea typeface="Georgia"/>
              <a:cs typeface="Georgia"/>
              <a:sym typeface="Georgia"/>
            </a:endParaRPr>
          </a:p>
          <a:p>
            <a:pPr indent="-298450" lvl="0" marL="457200" rtl="0" algn="l">
              <a:lnSpc>
                <a:spcPct val="115000"/>
              </a:lnSpc>
              <a:spcBef>
                <a:spcPts val="0"/>
              </a:spcBef>
              <a:spcAft>
                <a:spcPts val="0"/>
              </a:spcAft>
              <a:buClr>
                <a:schemeClr val="dk1"/>
              </a:buClr>
              <a:buSzPts val="1100"/>
              <a:buFont typeface="Georgia"/>
              <a:buChar char="●"/>
            </a:pPr>
            <a:r>
              <a:rPr lang="en-US" sz="1100">
                <a:solidFill>
                  <a:schemeClr val="dk1"/>
                </a:solidFill>
                <a:latin typeface="Georgia"/>
                <a:ea typeface="Georgia"/>
                <a:cs typeface="Georgia"/>
                <a:sym typeface="Georgia"/>
              </a:rPr>
              <a:t>Updated score text styling (font, color, size) for easy readability.</a:t>
            </a:r>
            <a:endParaRPr sz="1100">
              <a:solidFill>
                <a:schemeClr val="dk1"/>
              </a:solidFill>
              <a:latin typeface="Georgia"/>
              <a:ea typeface="Georgia"/>
              <a:cs typeface="Georgia"/>
              <a:sym typeface="Georgia"/>
            </a:endParaRPr>
          </a:p>
        </p:txBody>
      </p:sp>
      <p:sp>
        <p:nvSpPr>
          <p:cNvPr id="216" name="Google Shape;216;p23"/>
          <p:cNvSpPr txBox="1"/>
          <p:nvPr/>
        </p:nvSpPr>
        <p:spPr>
          <a:xfrm>
            <a:off x="2032100" y="6556375"/>
            <a:ext cx="4760100" cy="469500"/>
          </a:xfrm>
          <a:prstGeom prst="rect">
            <a:avLst/>
          </a:prstGeom>
          <a:noFill/>
          <a:ln>
            <a:noFill/>
          </a:ln>
        </p:spPr>
        <p:txBody>
          <a:bodyPr anchorCtr="0" anchor="t" bIns="91425" lIns="91425" spcFirstLastPara="1" rIns="91425" wrap="square" tIns="91425">
            <a:spAutoFit/>
          </a:bodyPr>
          <a:lstStyle/>
          <a:p>
            <a:pPr indent="0" lvl="0" marL="0" rtl="0" algn="l">
              <a:lnSpc>
                <a:spcPct val="127027"/>
              </a:lnSpc>
              <a:spcBef>
                <a:spcPts val="0"/>
              </a:spcBef>
              <a:spcAft>
                <a:spcPts val="0"/>
              </a:spcAft>
              <a:buClr>
                <a:srgbClr val="405449"/>
              </a:buClr>
              <a:buSzPts val="1850"/>
              <a:buFont typeface="Fraunces"/>
              <a:buNone/>
            </a:pPr>
            <a:r>
              <a:rPr b="1" lang="en-US" sz="1850">
                <a:solidFill>
                  <a:srgbClr val="405449"/>
                </a:solidFill>
                <a:latin typeface="Fraunces"/>
                <a:ea typeface="Fraunces"/>
                <a:cs typeface="Fraunces"/>
                <a:sym typeface="Fraunces"/>
              </a:rPr>
              <a:t>Additional Enhancements</a:t>
            </a:r>
            <a:endParaRPr/>
          </a:p>
        </p:txBody>
      </p:sp>
      <p:pic>
        <p:nvPicPr>
          <p:cNvPr descr="preencoded.png" id="217" name="Google Shape;217;p23"/>
          <p:cNvPicPr preferRelativeResize="0"/>
          <p:nvPr/>
        </p:nvPicPr>
        <p:blipFill rotWithShape="1">
          <a:blip r:embed="rId3">
            <a:alphaModFix/>
          </a:blip>
          <a:srcRect b="0" l="0" r="0" t="0"/>
          <a:stretch/>
        </p:blipFill>
        <p:spPr>
          <a:xfrm>
            <a:off x="793790" y="4141327"/>
            <a:ext cx="963930" cy="1156811"/>
          </a:xfrm>
          <a:prstGeom prst="rect">
            <a:avLst/>
          </a:prstGeom>
          <a:noFill/>
          <a:ln>
            <a:noFill/>
          </a:ln>
        </p:spPr>
      </p:pic>
      <p:pic>
        <p:nvPicPr>
          <p:cNvPr id="218" name="Google Shape;218;p23" title="Image 12-8-25 at 2.41 PM.jpg"/>
          <p:cNvPicPr preferRelativeResize="0"/>
          <p:nvPr/>
        </p:nvPicPr>
        <p:blipFill>
          <a:blip r:embed="rId5">
            <a:alphaModFix/>
          </a:blip>
          <a:stretch>
            <a:fillRect/>
          </a:stretch>
        </p:blipFill>
        <p:spPr>
          <a:xfrm>
            <a:off x="8940424" y="3090850"/>
            <a:ext cx="5103327" cy="3571200"/>
          </a:xfrm>
          <a:prstGeom prst="rect">
            <a:avLst/>
          </a:prstGeom>
          <a:noFill/>
          <a:ln>
            <a:noFill/>
          </a:ln>
        </p:spPr>
      </p:pic>
      <p:sp>
        <p:nvSpPr>
          <p:cNvPr id="219" name="Google Shape;219;p23"/>
          <p:cNvSpPr txBox="1"/>
          <p:nvPr/>
        </p:nvSpPr>
        <p:spPr>
          <a:xfrm>
            <a:off x="10214300" y="6662050"/>
            <a:ext cx="3000000" cy="354000"/>
          </a:xfrm>
          <a:prstGeom prst="rect">
            <a:avLst/>
          </a:prstGeom>
          <a:noFill/>
          <a:ln>
            <a:noFill/>
          </a:ln>
        </p:spPr>
        <p:txBody>
          <a:bodyPr anchorCtr="0" anchor="t" bIns="91425" lIns="91425" spcFirstLastPara="1" rIns="91425" wrap="square" tIns="91425">
            <a:spAutoFit/>
          </a:bodyPr>
          <a:lstStyle/>
          <a:p>
            <a:pPr indent="0" lvl="0" marL="457200" rtl="0" algn="l">
              <a:lnSpc>
                <a:spcPct val="160000"/>
              </a:lnSpc>
              <a:spcBef>
                <a:spcPts val="0"/>
              </a:spcBef>
              <a:spcAft>
                <a:spcPts val="0"/>
              </a:spcAft>
              <a:buNone/>
            </a:pPr>
            <a:r>
              <a:rPr lang="en-US" sz="1100">
                <a:solidFill>
                  <a:schemeClr val="dk1"/>
                </a:solidFill>
                <a:latin typeface="Georgia"/>
                <a:ea typeface="Georgia"/>
                <a:cs typeface="Georgia"/>
                <a:sym typeface="Georgia"/>
              </a:rPr>
              <a:t>Adding in background music</a:t>
            </a:r>
            <a:endParaRPr sz="1100">
              <a:solidFill>
                <a:schemeClr val="dk1"/>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4"/>
          <p:cNvSpPr/>
          <p:nvPr/>
        </p:nvSpPr>
        <p:spPr>
          <a:xfrm>
            <a:off x="623777" y="490055"/>
            <a:ext cx="7321500" cy="334200"/>
          </a:xfrm>
          <a:prstGeom prst="rect">
            <a:avLst/>
          </a:prstGeom>
          <a:noFill/>
          <a:ln>
            <a:noFill/>
          </a:ln>
        </p:spPr>
        <p:txBody>
          <a:bodyPr anchorCtr="0" anchor="t" bIns="0" lIns="0" spcFirstLastPara="1" rIns="0" wrap="square" tIns="0">
            <a:noAutofit/>
          </a:bodyPr>
          <a:lstStyle/>
          <a:p>
            <a:pPr indent="0" lvl="0" marL="0" marR="0" rtl="0" algn="l">
              <a:lnSpc>
                <a:spcPct val="124285"/>
              </a:lnSpc>
              <a:spcBef>
                <a:spcPts val="0"/>
              </a:spcBef>
              <a:spcAft>
                <a:spcPts val="0"/>
              </a:spcAft>
              <a:buClr>
                <a:srgbClr val="3B4540"/>
              </a:buClr>
              <a:buSzPts val="3500"/>
              <a:buFont typeface="Fraunces"/>
              <a:buNone/>
            </a:pPr>
            <a:r>
              <a:rPr b="1" lang="en-US" sz="3500">
                <a:solidFill>
                  <a:srgbClr val="3B4540"/>
                </a:solidFill>
                <a:latin typeface="Fraunces"/>
                <a:ea typeface="Fraunces"/>
                <a:cs typeface="Fraunces"/>
                <a:sym typeface="Fraunces"/>
              </a:rPr>
              <a:t>Key Takeaways</a:t>
            </a:r>
            <a:endParaRPr b="0" i="0" sz="3500" u="none" cap="none" strike="noStrike"/>
          </a:p>
        </p:txBody>
      </p:sp>
      <p:pic>
        <p:nvPicPr>
          <p:cNvPr descr="preencoded.png" id="226" name="Google Shape;226;p24"/>
          <p:cNvPicPr preferRelativeResize="0"/>
          <p:nvPr/>
        </p:nvPicPr>
        <p:blipFill rotWithShape="1">
          <a:blip r:embed="rId3">
            <a:alphaModFix/>
          </a:blip>
          <a:srcRect b="0" l="0" r="0" t="0"/>
          <a:stretch/>
        </p:blipFill>
        <p:spPr>
          <a:xfrm>
            <a:off x="623768" y="1514713"/>
            <a:ext cx="6474023" cy="6474023"/>
          </a:xfrm>
          <a:prstGeom prst="rect">
            <a:avLst/>
          </a:prstGeom>
          <a:noFill/>
          <a:ln>
            <a:noFill/>
          </a:ln>
        </p:spPr>
      </p:pic>
      <p:sp>
        <p:nvSpPr>
          <p:cNvPr id="227" name="Google Shape;227;p24"/>
          <p:cNvSpPr/>
          <p:nvPr/>
        </p:nvSpPr>
        <p:spPr>
          <a:xfrm>
            <a:off x="7540224" y="1492325"/>
            <a:ext cx="4764600" cy="3342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rgbClr val="438951"/>
              </a:buClr>
              <a:buSzPts val="2400"/>
              <a:buFont typeface="Fraunces"/>
              <a:buNone/>
            </a:pPr>
            <a:r>
              <a:rPr b="1" lang="en-US" sz="3000">
                <a:solidFill>
                  <a:srgbClr val="438951"/>
                </a:solidFill>
                <a:latin typeface="Fraunces"/>
                <a:ea typeface="Fraunces"/>
                <a:cs typeface="Fraunces"/>
                <a:sym typeface="Fraunces"/>
              </a:rPr>
              <a:t>Technical Competencies</a:t>
            </a:r>
            <a:endParaRPr b="0" i="0" sz="3000" u="none" cap="none" strike="noStrike"/>
          </a:p>
        </p:txBody>
      </p:sp>
      <p:sp>
        <p:nvSpPr>
          <p:cNvPr id="228" name="Google Shape;228;p24"/>
          <p:cNvSpPr/>
          <p:nvPr/>
        </p:nvSpPr>
        <p:spPr>
          <a:xfrm>
            <a:off x="7382266" y="2455024"/>
            <a:ext cx="6474000" cy="285300"/>
          </a:xfrm>
          <a:prstGeom prst="rect">
            <a:avLst/>
          </a:prstGeom>
          <a:noFill/>
          <a:ln>
            <a:noFill/>
          </a:ln>
        </p:spPr>
        <p:txBody>
          <a:bodyPr anchorCtr="0" anchor="t" bIns="0" lIns="0" spcFirstLastPara="1" rIns="0" wrap="square" tIns="0">
            <a:noAutofit/>
          </a:bodyPr>
          <a:lstStyle/>
          <a:p>
            <a:pPr indent="-361950" lvl="0" marL="342900" rtl="0" algn="l">
              <a:lnSpc>
                <a:spcPct val="159375"/>
              </a:lnSpc>
              <a:spcBef>
                <a:spcPts val="0"/>
              </a:spcBef>
              <a:spcAft>
                <a:spcPts val="0"/>
              </a:spcAft>
              <a:buClr>
                <a:srgbClr val="405449"/>
              </a:buClr>
              <a:buSzPts val="1900"/>
              <a:buFont typeface="Nobile"/>
              <a:buChar char="•"/>
            </a:pPr>
            <a:r>
              <a:rPr lang="en-US" sz="1900">
                <a:solidFill>
                  <a:srgbClr val="405449"/>
                </a:solidFill>
                <a:latin typeface="Nobile"/>
                <a:ea typeface="Nobile"/>
                <a:cs typeface="Nobile"/>
                <a:sym typeface="Nobile"/>
              </a:rPr>
              <a:t>Object-oriented design patterns</a:t>
            </a:r>
            <a:endParaRPr sz="1900">
              <a:solidFill>
                <a:srgbClr val="405449"/>
              </a:solidFill>
              <a:latin typeface="Nobile"/>
              <a:ea typeface="Nobile"/>
              <a:cs typeface="Nobile"/>
              <a:sym typeface="Nobile"/>
            </a:endParaRPr>
          </a:p>
        </p:txBody>
      </p:sp>
      <p:sp>
        <p:nvSpPr>
          <p:cNvPr id="229" name="Google Shape;229;p24"/>
          <p:cNvSpPr/>
          <p:nvPr/>
        </p:nvSpPr>
        <p:spPr>
          <a:xfrm>
            <a:off x="7382266" y="3188474"/>
            <a:ext cx="6474000" cy="285300"/>
          </a:xfrm>
          <a:prstGeom prst="rect">
            <a:avLst/>
          </a:prstGeom>
          <a:noFill/>
          <a:ln>
            <a:noFill/>
          </a:ln>
        </p:spPr>
        <p:txBody>
          <a:bodyPr anchorCtr="0" anchor="t" bIns="0" lIns="0" spcFirstLastPara="1" rIns="0" wrap="square" tIns="0">
            <a:noAutofit/>
          </a:bodyPr>
          <a:lstStyle/>
          <a:p>
            <a:pPr indent="-361950" lvl="0" marL="342900" rtl="0" algn="l">
              <a:lnSpc>
                <a:spcPct val="159375"/>
              </a:lnSpc>
              <a:spcBef>
                <a:spcPts val="0"/>
              </a:spcBef>
              <a:spcAft>
                <a:spcPts val="0"/>
              </a:spcAft>
              <a:buClr>
                <a:srgbClr val="405449"/>
              </a:buClr>
              <a:buSzPts val="1900"/>
              <a:buFont typeface="Nobile"/>
              <a:buChar char="•"/>
            </a:pPr>
            <a:r>
              <a:rPr lang="en-US" sz="1900">
                <a:solidFill>
                  <a:srgbClr val="405449"/>
                </a:solidFill>
                <a:latin typeface="Nobile"/>
                <a:ea typeface="Nobile"/>
                <a:cs typeface="Nobile"/>
                <a:sym typeface="Nobile"/>
              </a:rPr>
              <a:t>Game loop architecture and frame management</a:t>
            </a:r>
            <a:endParaRPr b="0" i="0" sz="1900" u="none" cap="none" strike="noStrike"/>
          </a:p>
        </p:txBody>
      </p:sp>
      <p:sp>
        <p:nvSpPr>
          <p:cNvPr id="230" name="Google Shape;230;p24"/>
          <p:cNvSpPr/>
          <p:nvPr/>
        </p:nvSpPr>
        <p:spPr>
          <a:xfrm>
            <a:off x="7382266" y="3880485"/>
            <a:ext cx="6474000" cy="285300"/>
          </a:xfrm>
          <a:prstGeom prst="rect">
            <a:avLst/>
          </a:prstGeom>
          <a:noFill/>
          <a:ln>
            <a:noFill/>
          </a:ln>
        </p:spPr>
        <p:txBody>
          <a:bodyPr anchorCtr="0" anchor="t" bIns="0" lIns="0" spcFirstLastPara="1" rIns="0" wrap="square" tIns="0">
            <a:noAutofit/>
          </a:bodyPr>
          <a:lstStyle/>
          <a:p>
            <a:pPr indent="-361950" lvl="0" marL="342900" rtl="0" algn="l">
              <a:lnSpc>
                <a:spcPct val="159375"/>
              </a:lnSpc>
              <a:spcBef>
                <a:spcPts val="0"/>
              </a:spcBef>
              <a:spcAft>
                <a:spcPts val="0"/>
              </a:spcAft>
              <a:buClr>
                <a:srgbClr val="405449"/>
              </a:buClr>
              <a:buSzPts val="1900"/>
              <a:buFont typeface="Nobile"/>
              <a:buChar char="•"/>
            </a:pPr>
            <a:r>
              <a:rPr lang="en-US" sz="1900">
                <a:solidFill>
                  <a:srgbClr val="405449"/>
                </a:solidFill>
                <a:latin typeface="Nobile"/>
                <a:ea typeface="Nobile"/>
                <a:cs typeface="Nobile"/>
                <a:sym typeface="Nobile"/>
              </a:rPr>
              <a:t>Algorithm implementation (collision detection)</a:t>
            </a:r>
            <a:endParaRPr b="0" i="0" sz="1900" u="none" cap="none" strike="noStrike"/>
          </a:p>
        </p:txBody>
      </p:sp>
      <p:sp>
        <p:nvSpPr>
          <p:cNvPr id="231" name="Google Shape;231;p24"/>
          <p:cNvSpPr/>
          <p:nvPr/>
        </p:nvSpPr>
        <p:spPr>
          <a:xfrm>
            <a:off x="7540228" y="3510082"/>
            <a:ext cx="2673429" cy="334089"/>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3B4540"/>
              </a:buClr>
              <a:buSzPts val="2100"/>
              <a:buFont typeface="Fraunces"/>
              <a:buNone/>
            </a:pPr>
            <a:r>
              <a:t/>
            </a:r>
            <a:endParaRPr b="0" i="0" sz="2100" u="none" cap="none" strike="noStrike"/>
          </a:p>
        </p:txBody>
      </p:sp>
      <p:sp>
        <p:nvSpPr>
          <p:cNvPr id="232" name="Google Shape;232;p24"/>
          <p:cNvSpPr/>
          <p:nvPr/>
        </p:nvSpPr>
        <p:spPr>
          <a:xfrm>
            <a:off x="7287425" y="4370950"/>
            <a:ext cx="6474000" cy="285300"/>
          </a:xfrm>
          <a:prstGeom prst="rect">
            <a:avLst/>
          </a:prstGeom>
          <a:noFill/>
          <a:ln>
            <a:noFill/>
          </a:ln>
        </p:spPr>
        <p:txBody>
          <a:bodyPr anchorCtr="0" anchor="t" bIns="0" lIns="0" spcFirstLastPara="1" rIns="0" wrap="square" tIns="0">
            <a:noAutofit/>
          </a:bodyPr>
          <a:lstStyle/>
          <a:p>
            <a:pPr indent="-349250" lvl="0" marL="457200" rtl="0" algn="l">
              <a:lnSpc>
                <a:spcPct val="159375"/>
              </a:lnSpc>
              <a:spcBef>
                <a:spcPts val="0"/>
              </a:spcBef>
              <a:spcAft>
                <a:spcPts val="0"/>
              </a:spcAft>
              <a:buClr>
                <a:srgbClr val="405449"/>
              </a:buClr>
              <a:buSzPts val="1900"/>
              <a:buFont typeface="Nobile"/>
              <a:buChar char="•"/>
            </a:pPr>
            <a:r>
              <a:rPr lang="en-US" sz="1900">
                <a:solidFill>
                  <a:srgbClr val="405449"/>
                </a:solidFill>
                <a:latin typeface="Nobile"/>
                <a:ea typeface="Nobile"/>
                <a:cs typeface="Nobile"/>
                <a:sym typeface="Nobile"/>
              </a:rPr>
              <a:t>Problem decomposition</a:t>
            </a:r>
            <a:endParaRPr sz="1900">
              <a:solidFill>
                <a:schemeClr val="dk1"/>
              </a:solidFill>
            </a:endParaRPr>
          </a:p>
          <a:p>
            <a:pPr indent="0" lvl="0" marL="0" marR="0" rtl="0" algn="l">
              <a:lnSpc>
                <a:spcPct val="157142"/>
              </a:lnSpc>
              <a:spcBef>
                <a:spcPts val="0"/>
              </a:spcBef>
              <a:spcAft>
                <a:spcPts val="0"/>
              </a:spcAft>
              <a:buNone/>
            </a:pPr>
            <a:r>
              <a:t/>
            </a:r>
            <a:endParaRPr sz="1900">
              <a:solidFill>
                <a:srgbClr val="405449"/>
              </a:solidFill>
              <a:latin typeface="Nobile"/>
              <a:ea typeface="Nobile"/>
              <a:cs typeface="Nobile"/>
              <a:sym typeface="Nobile"/>
            </a:endParaRPr>
          </a:p>
        </p:txBody>
      </p:sp>
      <p:sp>
        <p:nvSpPr>
          <p:cNvPr id="233" name="Google Shape;233;p24"/>
          <p:cNvSpPr/>
          <p:nvPr/>
        </p:nvSpPr>
        <p:spPr>
          <a:xfrm>
            <a:off x="7382266" y="6135438"/>
            <a:ext cx="6474000" cy="285300"/>
          </a:xfrm>
          <a:prstGeom prst="rect">
            <a:avLst/>
          </a:prstGeom>
          <a:noFill/>
          <a:ln>
            <a:noFill/>
          </a:ln>
        </p:spPr>
        <p:txBody>
          <a:bodyPr anchorCtr="0" anchor="t" bIns="0" lIns="0" spcFirstLastPara="1" rIns="0" wrap="square" tIns="0">
            <a:noAutofit/>
          </a:bodyPr>
          <a:lstStyle/>
          <a:p>
            <a:pPr indent="-361950" lvl="0" marL="342900" rtl="0" algn="l">
              <a:lnSpc>
                <a:spcPct val="159375"/>
              </a:lnSpc>
              <a:spcBef>
                <a:spcPts val="0"/>
              </a:spcBef>
              <a:spcAft>
                <a:spcPts val="0"/>
              </a:spcAft>
              <a:buClr>
                <a:srgbClr val="405449"/>
              </a:buClr>
              <a:buSzPts val="1900"/>
              <a:buFont typeface="Nobile"/>
              <a:buChar char="•"/>
            </a:pPr>
            <a:r>
              <a:rPr lang="en-US" sz="1900">
                <a:solidFill>
                  <a:srgbClr val="405449"/>
                </a:solidFill>
                <a:latin typeface="Nobile"/>
                <a:ea typeface="Nobile"/>
                <a:cs typeface="Nobile"/>
                <a:sym typeface="Nobile"/>
              </a:rPr>
              <a:t>Iterative development approach</a:t>
            </a:r>
            <a:endParaRPr sz="1900">
              <a:solidFill>
                <a:schemeClr val="dk1"/>
              </a:solidFill>
            </a:endParaRPr>
          </a:p>
          <a:p>
            <a:pPr indent="0" lvl="0" marL="0" marR="0" rtl="0" algn="l">
              <a:lnSpc>
                <a:spcPct val="157142"/>
              </a:lnSpc>
              <a:spcBef>
                <a:spcPts val="0"/>
              </a:spcBef>
              <a:spcAft>
                <a:spcPts val="0"/>
              </a:spcAft>
              <a:buNone/>
            </a:pPr>
            <a:r>
              <a:t/>
            </a:r>
            <a:endParaRPr/>
          </a:p>
        </p:txBody>
      </p:sp>
      <p:sp>
        <p:nvSpPr>
          <p:cNvPr id="234" name="Google Shape;234;p24"/>
          <p:cNvSpPr/>
          <p:nvPr/>
        </p:nvSpPr>
        <p:spPr>
          <a:xfrm>
            <a:off x="7382266" y="6721437"/>
            <a:ext cx="6474000" cy="285300"/>
          </a:xfrm>
          <a:prstGeom prst="rect">
            <a:avLst/>
          </a:prstGeom>
          <a:noFill/>
          <a:ln>
            <a:noFill/>
          </a:ln>
        </p:spPr>
        <p:txBody>
          <a:bodyPr anchorCtr="0" anchor="t" bIns="0" lIns="0" spcFirstLastPara="1" rIns="0" wrap="square" tIns="0">
            <a:noAutofit/>
          </a:bodyPr>
          <a:lstStyle/>
          <a:p>
            <a:pPr indent="-374650" lvl="0" marL="342900" marR="0" rtl="0" algn="l">
              <a:lnSpc>
                <a:spcPct val="157142"/>
              </a:lnSpc>
              <a:spcBef>
                <a:spcPts val="0"/>
              </a:spcBef>
              <a:spcAft>
                <a:spcPts val="0"/>
              </a:spcAft>
              <a:buClr>
                <a:srgbClr val="405449"/>
              </a:buClr>
              <a:buSzPts val="1900"/>
              <a:buFont typeface="Nobile"/>
              <a:buChar char="•"/>
            </a:pPr>
            <a:r>
              <a:rPr lang="en-US" sz="1900">
                <a:solidFill>
                  <a:srgbClr val="405449"/>
                </a:solidFill>
                <a:latin typeface="Nobile"/>
                <a:ea typeface="Nobile"/>
                <a:cs typeface="Nobile"/>
                <a:sym typeface="Nobile"/>
              </a:rPr>
              <a:t>Team Coordination skills </a:t>
            </a:r>
            <a:endParaRPr b="0" i="0" sz="1900" u="none" cap="none" strike="noStrike"/>
          </a:p>
        </p:txBody>
      </p:sp>
      <p:sp>
        <p:nvSpPr>
          <p:cNvPr id="235" name="Google Shape;235;p24"/>
          <p:cNvSpPr/>
          <p:nvPr/>
        </p:nvSpPr>
        <p:spPr>
          <a:xfrm>
            <a:off x="7382275" y="5549475"/>
            <a:ext cx="6552900" cy="285300"/>
          </a:xfrm>
          <a:prstGeom prst="rect">
            <a:avLst/>
          </a:prstGeom>
          <a:noFill/>
          <a:ln>
            <a:noFill/>
          </a:ln>
        </p:spPr>
        <p:txBody>
          <a:bodyPr anchorCtr="0" anchor="t" bIns="0" lIns="0" spcFirstLastPara="1" rIns="0" wrap="square" tIns="0">
            <a:noAutofit/>
          </a:bodyPr>
          <a:lstStyle/>
          <a:p>
            <a:pPr indent="-361950" lvl="0" marL="342900" rtl="0" algn="l">
              <a:lnSpc>
                <a:spcPct val="159375"/>
              </a:lnSpc>
              <a:spcBef>
                <a:spcPts val="0"/>
              </a:spcBef>
              <a:spcAft>
                <a:spcPts val="0"/>
              </a:spcAft>
              <a:buClr>
                <a:srgbClr val="405449"/>
              </a:buClr>
              <a:buSzPts val="1900"/>
              <a:buFont typeface="Nobile"/>
              <a:buChar char="•"/>
            </a:pPr>
            <a:r>
              <a:rPr lang="en-US" sz="1900">
                <a:solidFill>
                  <a:srgbClr val="405449"/>
                </a:solidFill>
                <a:latin typeface="Nobile"/>
                <a:ea typeface="Nobile"/>
                <a:cs typeface="Nobile"/>
                <a:sym typeface="Nobile"/>
              </a:rPr>
              <a:t>Code documentation and maintainability</a:t>
            </a:r>
            <a:endParaRPr sz="1900">
              <a:solidFill>
                <a:schemeClr val="dk1"/>
              </a:solidFill>
            </a:endParaRPr>
          </a:p>
          <a:p>
            <a:pPr indent="0" lvl="0" marL="0" marR="0" rtl="0" algn="l">
              <a:lnSpc>
                <a:spcPct val="157142"/>
              </a:lnSpc>
              <a:spcBef>
                <a:spcPts val="0"/>
              </a:spcBef>
              <a:spcAft>
                <a:spcPts val="0"/>
              </a:spcAft>
              <a:buNone/>
            </a:pPr>
            <a:r>
              <a:t/>
            </a:r>
            <a:endParaRPr/>
          </a:p>
        </p:txBody>
      </p:sp>
      <p:sp>
        <p:nvSpPr>
          <p:cNvPr id="236" name="Google Shape;236;p24"/>
          <p:cNvSpPr/>
          <p:nvPr/>
        </p:nvSpPr>
        <p:spPr>
          <a:xfrm>
            <a:off x="623768" y="8389739"/>
            <a:ext cx="13382863" cy="285155"/>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438951"/>
              </a:buClr>
              <a:buSzPts val="1400"/>
              <a:buFont typeface="Nobile"/>
              <a:buNone/>
            </a:pPr>
            <a:r>
              <a:rPr b="1" i="0" lang="en-US" sz="1400" u="none" cap="none" strike="noStrike">
                <a:solidFill>
                  <a:srgbClr val="438951"/>
                </a:solidFill>
                <a:latin typeface="Nobile"/>
                <a:ea typeface="Nobile"/>
                <a:cs typeface="Nobile"/>
                <a:sym typeface="Nobile"/>
              </a:rPr>
              <a:t>Result:</a:t>
            </a:r>
            <a:r>
              <a:rPr b="0" i="0" lang="en-US" sz="1400" u="none" cap="none" strike="noStrike">
                <a:solidFill>
                  <a:srgbClr val="405449"/>
                </a:solidFill>
                <a:latin typeface="Nobile"/>
                <a:ea typeface="Nobile"/>
                <a:cs typeface="Nobile"/>
                <a:sym typeface="Nobile"/>
              </a:rPr>
              <a:t> Minimal merge conflicts and smooth collaboration throughout the project</a:t>
            </a:r>
            <a:endParaRPr b="0" i="0" sz="1400" u="none" cap="none" strike="noStrike"/>
          </a:p>
        </p:txBody>
      </p:sp>
      <p:sp>
        <p:nvSpPr>
          <p:cNvPr id="237" name="Google Shape;237;p24"/>
          <p:cNvSpPr txBox="1"/>
          <p:nvPr/>
        </p:nvSpPr>
        <p:spPr>
          <a:xfrm>
            <a:off x="7287475" y="4861425"/>
            <a:ext cx="6474000" cy="477000"/>
          </a:xfrm>
          <a:prstGeom prst="rect">
            <a:avLst/>
          </a:prstGeom>
          <a:noFill/>
          <a:ln>
            <a:noFill/>
          </a:ln>
        </p:spPr>
        <p:txBody>
          <a:bodyPr anchorCtr="0" anchor="t" bIns="91425" lIns="91425" spcFirstLastPara="1" rIns="91425" wrap="square" tIns="91425">
            <a:spAutoFit/>
          </a:bodyPr>
          <a:lstStyle/>
          <a:p>
            <a:pPr indent="-361950" lvl="0" marL="342900" rtl="0" algn="l">
              <a:lnSpc>
                <a:spcPct val="159375"/>
              </a:lnSpc>
              <a:spcBef>
                <a:spcPts val="0"/>
              </a:spcBef>
              <a:spcAft>
                <a:spcPts val="0"/>
              </a:spcAft>
              <a:buClr>
                <a:srgbClr val="405449"/>
              </a:buClr>
              <a:buSzPts val="1900"/>
              <a:buFont typeface="Nobile"/>
              <a:buChar char="•"/>
            </a:pPr>
            <a:r>
              <a:rPr lang="en-US" sz="1900">
                <a:solidFill>
                  <a:srgbClr val="405449"/>
                </a:solidFill>
                <a:latin typeface="Nobile"/>
                <a:ea typeface="Nobile"/>
                <a:cs typeface="Nobile"/>
                <a:sym typeface="Nobile"/>
              </a:rPr>
              <a:t>Debugging complex state-dependent systems</a:t>
            </a:r>
            <a:endParaRPr sz="1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5"/>
          <p:cNvSpPr/>
          <p:nvPr/>
        </p:nvSpPr>
        <p:spPr>
          <a:xfrm>
            <a:off x="793790" y="1599128"/>
            <a:ext cx="11341298" cy="1417677"/>
          </a:xfrm>
          <a:prstGeom prst="rect">
            <a:avLst/>
          </a:prstGeom>
          <a:noFill/>
          <a:ln>
            <a:noFill/>
          </a:ln>
        </p:spPr>
        <p:txBody>
          <a:bodyPr anchorCtr="0" anchor="t" bIns="0" lIns="0" spcFirstLastPara="1" rIns="0" wrap="square" tIns="0">
            <a:noAutofit/>
          </a:bodyPr>
          <a:lstStyle/>
          <a:p>
            <a:pPr indent="0" lvl="0" marL="0" marR="0" rtl="0" algn="l">
              <a:lnSpc>
                <a:spcPct val="125280"/>
              </a:lnSpc>
              <a:spcBef>
                <a:spcPts val="0"/>
              </a:spcBef>
              <a:spcAft>
                <a:spcPts val="0"/>
              </a:spcAft>
              <a:buClr>
                <a:srgbClr val="3B4540"/>
              </a:buClr>
              <a:buSzPts val="8900"/>
              <a:buFont typeface="Fraunces"/>
              <a:buNone/>
            </a:pPr>
            <a:r>
              <a:rPr b="1" i="0" lang="en-US" sz="8900" u="none" cap="none" strike="noStrike">
                <a:solidFill>
                  <a:srgbClr val="3B4540"/>
                </a:solidFill>
                <a:latin typeface="Fraunces"/>
                <a:ea typeface="Fraunces"/>
                <a:cs typeface="Fraunces"/>
                <a:sym typeface="Fraunces"/>
              </a:rPr>
              <a:t>Thank You</a:t>
            </a:r>
            <a:endParaRPr b="0" i="0" sz="8900" u="none" cap="none" strike="noStrike"/>
          </a:p>
        </p:txBody>
      </p:sp>
      <p:sp>
        <p:nvSpPr>
          <p:cNvPr id="244" name="Google Shape;244;p25"/>
          <p:cNvSpPr/>
          <p:nvPr/>
        </p:nvSpPr>
        <p:spPr>
          <a:xfrm>
            <a:off x="793790" y="3356967"/>
            <a:ext cx="5385435"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3B4540"/>
              </a:buClr>
              <a:buSzPts val="3550"/>
              <a:buFont typeface="Fraunces"/>
              <a:buNone/>
            </a:pPr>
            <a:r>
              <a:rPr b="1" i="0" lang="en-US" sz="3550" u="none" cap="none" strike="noStrike">
                <a:solidFill>
                  <a:srgbClr val="3B4540"/>
                </a:solidFill>
                <a:latin typeface="Fraunces"/>
                <a:ea typeface="Fraunces"/>
                <a:cs typeface="Fraunces"/>
                <a:sym typeface="Fraunces"/>
              </a:rPr>
              <a:t>Questions &amp; Discussion</a:t>
            </a:r>
            <a:endParaRPr b="0" i="0" sz="3550" u="none" cap="none" strike="noStrike"/>
          </a:p>
        </p:txBody>
      </p:sp>
      <p:sp>
        <p:nvSpPr>
          <p:cNvPr id="245" name="Google Shape;245;p25"/>
          <p:cNvSpPr/>
          <p:nvPr/>
        </p:nvSpPr>
        <p:spPr>
          <a:xfrm>
            <a:off x="793790" y="4264104"/>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Repository: </a:t>
            </a:r>
            <a:r>
              <a:rPr b="1" lang="en-US" sz="1750">
                <a:solidFill>
                  <a:srgbClr val="405449"/>
                </a:solidFill>
                <a:latin typeface="Nobile"/>
                <a:ea typeface="Nobile"/>
                <a:cs typeface="Nobile"/>
                <a:sym typeface="Nobile"/>
              </a:rPr>
              <a:t>https://github.com/mac-comp123-f25/project-cobra</a:t>
            </a:r>
            <a:endParaRPr b="0" i="0" sz="1750" u="none" cap="none" strike="noStrike"/>
          </a:p>
        </p:txBody>
      </p:sp>
      <p:sp>
        <p:nvSpPr>
          <p:cNvPr id="246" name="Google Shape;246;p25"/>
          <p:cNvSpPr/>
          <p:nvPr/>
        </p:nvSpPr>
        <p:spPr>
          <a:xfrm>
            <a:off x="793790" y="4995538"/>
            <a:ext cx="13042821" cy="35957"/>
          </a:xfrm>
          <a:prstGeom prst="rect">
            <a:avLst/>
          </a:prstGeom>
          <a:solidFill>
            <a:srgbClr val="405449">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5"/>
          <p:cNvSpPr/>
          <p:nvPr/>
        </p:nvSpPr>
        <p:spPr>
          <a:xfrm>
            <a:off x="793790" y="5286613"/>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Elma Mostic | Kampe Ru</a:t>
            </a:r>
            <a:r>
              <a:rPr lang="en-US" sz="1750">
                <a:solidFill>
                  <a:srgbClr val="405449"/>
                </a:solidFill>
                <a:latin typeface="Nobile"/>
                <a:ea typeface="Nobile"/>
                <a:cs typeface="Nobile"/>
                <a:sym typeface="Nobile"/>
              </a:rPr>
              <a:t>shoka</a:t>
            </a:r>
            <a:r>
              <a:rPr b="0" i="0" lang="en-US" sz="1750" u="none" cap="none" strike="noStrike">
                <a:solidFill>
                  <a:srgbClr val="405449"/>
                </a:solidFill>
                <a:latin typeface="Nobile"/>
                <a:ea typeface="Nobile"/>
                <a:cs typeface="Nobile"/>
                <a:sym typeface="Nobile"/>
              </a:rPr>
              <a:t>| Providence T</a:t>
            </a:r>
            <a:r>
              <a:rPr lang="en-US" sz="1750">
                <a:solidFill>
                  <a:srgbClr val="405449"/>
                </a:solidFill>
                <a:latin typeface="Nobile"/>
                <a:ea typeface="Nobile"/>
                <a:cs typeface="Nobile"/>
                <a:sym typeface="Nobile"/>
              </a:rPr>
              <a:t>husabantu</a:t>
            </a:r>
            <a:r>
              <a:rPr b="0" i="0" lang="en-US" sz="1750" u="none" cap="none" strike="noStrike">
                <a:solidFill>
                  <a:srgbClr val="405449"/>
                </a:solidFill>
                <a:latin typeface="Nobile"/>
                <a:ea typeface="Nobile"/>
                <a:cs typeface="Nobile"/>
                <a:sym typeface="Nobile"/>
              </a:rPr>
              <a:t>| Jack</a:t>
            </a:r>
            <a:r>
              <a:rPr lang="en-US" sz="1750">
                <a:solidFill>
                  <a:srgbClr val="405449"/>
                </a:solidFill>
                <a:latin typeface="Nobile"/>
                <a:ea typeface="Nobile"/>
                <a:cs typeface="Nobile"/>
                <a:sym typeface="Nobile"/>
              </a:rPr>
              <a:t> Dong</a:t>
            </a:r>
            <a:endParaRPr b="0" i="0" sz="1750" u="none" cap="none" strike="noStrike"/>
          </a:p>
        </p:txBody>
      </p:sp>
      <p:sp>
        <p:nvSpPr>
          <p:cNvPr id="248" name="Google Shape;248;p25"/>
          <p:cNvSpPr/>
          <p:nvPr/>
        </p:nvSpPr>
        <p:spPr>
          <a:xfrm>
            <a:off x="793790" y="6267569"/>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t/>
            </a:r>
            <a:endParaRPr b="0" i="0" sz="1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